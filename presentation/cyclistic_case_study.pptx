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1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154"/>
          </a:solidFill>
          <a:ln w="12700">
            <a:solidFill>
              <a:srgbClr val="0B315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640080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9C46A"/>
                </a:solidFill>
              </a:rPr>
              <a:t>CYCLISTIC BIKE-SHARE ANALYSIS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94360" y="1078992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Rider Behavior: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Q1 2019 vs Q1 2020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630936" y="2395728"/>
            <a:ext cx="594360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DCE8F3"/>
                </a:solidFill>
              </a:rPr>
              <a:t>Understanding how members and casual riders use bike-share differently to support membership conversion strategy.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94360" y="3913632"/>
            <a:ext cx="2240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1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4032504"/>
            <a:ext cx="191109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6B7280"/>
                </a:solidFill>
              </a:rPr>
              <a:t>TOTAL RIDES</a:t>
            </a:r>
            <a:endParaRPr lang="en-US" sz="730" dirty="0"/>
          </a:p>
        </p:txBody>
      </p:sp>
      <p:sp>
        <p:nvSpPr>
          <p:cNvPr id="8" name="Text 6"/>
          <p:cNvSpPr/>
          <p:nvPr/>
        </p:nvSpPr>
        <p:spPr>
          <a:xfrm>
            <a:off x="758952" y="4270248"/>
            <a:ext cx="19110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315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792K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777240" y="4626864"/>
            <a:ext cx="18745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6B7280"/>
                </a:solidFill>
              </a:rPr>
              <a:t>791,955 records</a:t>
            </a:r>
            <a:endParaRPr lang="en-US" sz="720" dirty="0"/>
          </a:p>
        </p:txBody>
      </p:sp>
      <p:sp>
        <p:nvSpPr>
          <p:cNvPr id="10" name="Shape 8"/>
          <p:cNvSpPr/>
          <p:nvPr/>
        </p:nvSpPr>
        <p:spPr>
          <a:xfrm>
            <a:off x="3035808" y="3913632"/>
            <a:ext cx="2240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1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0" y="4032504"/>
            <a:ext cx="191109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6B7280"/>
                </a:solidFill>
              </a:rPr>
              <a:t>MEMBER RIDES</a:t>
            </a:r>
            <a:endParaRPr lang="en-US" sz="730" dirty="0"/>
          </a:p>
        </p:txBody>
      </p:sp>
      <p:sp>
        <p:nvSpPr>
          <p:cNvPr id="12" name="Text 10"/>
          <p:cNvSpPr/>
          <p:nvPr/>
        </p:nvSpPr>
        <p:spPr>
          <a:xfrm>
            <a:off x="3200400" y="4270248"/>
            <a:ext cx="19110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28E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720K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3218688" y="4626864"/>
            <a:ext cx="18745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6B7280"/>
                </a:solidFill>
              </a:rPr>
              <a:t>91.0% of rides</a:t>
            </a:r>
            <a:endParaRPr lang="en-US" sz="720" dirty="0"/>
          </a:p>
        </p:txBody>
      </p:sp>
      <p:sp>
        <p:nvSpPr>
          <p:cNvPr id="14" name="Shape 12"/>
          <p:cNvSpPr/>
          <p:nvPr/>
        </p:nvSpPr>
        <p:spPr>
          <a:xfrm>
            <a:off x="5477256" y="3913632"/>
            <a:ext cx="2240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1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41848" y="4032504"/>
            <a:ext cx="191109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6B7280"/>
                </a:solidFill>
              </a:rPr>
              <a:t>CASUAL RIDES</a:t>
            </a:r>
            <a:endParaRPr lang="en-US" sz="730" dirty="0"/>
          </a:p>
        </p:txBody>
      </p:sp>
      <p:sp>
        <p:nvSpPr>
          <p:cNvPr id="16" name="Text 14"/>
          <p:cNvSpPr/>
          <p:nvPr/>
        </p:nvSpPr>
        <p:spPr>
          <a:xfrm>
            <a:off x="5641848" y="4270248"/>
            <a:ext cx="19110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F6FA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72K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5660136" y="4626864"/>
            <a:ext cx="18745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6B7280"/>
                </a:solidFill>
              </a:rPr>
              <a:t>9.0% of rides</a:t>
            </a:r>
            <a:endParaRPr lang="en-US" sz="720" dirty="0"/>
          </a:p>
        </p:txBody>
      </p:sp>
      <p:sp>
        <p:nvSpPr>
          <p:cNvPr id="18" name="Shape 16"/>
          <p:cNvSpPr/>
          <p:nvPr/>
        </p:nvSpPr>
        <p:spPr>
          <a:xfrm>
            <a:off x="7918704" y="3913632"/>
            <a:ext cx="2240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1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83296" y="4032504"/>
            <a:ext cx="191109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6B7280"/>
                </a:solidFill>
              </a:rPr>
              <a:t>AVG RIDE LENGTH</a:t>
            </a:r>
            <a:endParaRPr lang="en-US" sz="730" dirty="0"/>
          </a:p>
        </p:txBody>
      </p:sp>
      <p:sp>
        <p:nvSpPr>
          <p:cNvPr id="20" name="Text 18"/>
          <p:cNvSpPr/>
          <p:nvPr/>
        </p:nvSpPr>
        <p:spPr>
          <a:xfrm>
            <a:off x="8083296" y="4270248"/>
            <a:ext cx="19110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315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18.0</a:t>
            </a:r>
            <a:endParaRPr lang="en-US" sz="2300" dirty="0"/>
          </a:p>
        </p:txBody>
      </p:sp>
      <p:sp>
        <p:nvSpPr>
          <p:cNvPr id="21" name="Text 19"/>
          <p:cNvSpPr/>
          <p:nvPr/>
        </p:nvSpPr>
        <p:spPr>
          <a:xfrm>
            <a:off x="8101584" y="4626864"/>
            <a:ext cx="18745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6B7280"/>
                </a:solidFill>
              </a:rPr>
              <a:t>minutes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7635240" y="777240"/>
            <a:ext cx="4069080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23" name="Image 0" descr="/mnt/data/RIDER BEHAVIOR Q1 2019 VS Q1 2020(2).png">    </p:cNvPr>
          <p:cNvPicPr>
            <a:picLocks noChangeAspect="1"/>
          </p:cNvPicPr>
          <p:nvPr/>
        </p:nvPicPr>
        <p:blipFill>
          <a:blip r:embed="rId1"/>
          <a:srcRect l="0" r="0" t="1975" b="1975"/>
          <a:stretch/>
        </p:blipFill>
        <p:spPr>
          <a:xfrm>
            <a:off x="7754112" y="896112"/>
            <a:ext cx="3822192" cy="2359152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621792" y="5989320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CE8F3"/>
                </a:solidFill>
              </a:rPr>
              <a:t>Prepared for Cyclistic executive review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21792" y="6217920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9CEDF"/>
                </a:solidFill>
              </a:rPr>
              <a:t>Analysis dataset: Trip_Q1_2019_vs_Trip_Q1_2020.csv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0B3154"/>
          </a:solidFill>
          <a:ln w="12700">
            <a:solidFill>
              <a:srgbClr val="0B315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09728"/>
            <a:ext cx="8869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Executive summary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329184" y="365760"/>
            <a:ext cx="9418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CE8F3"/>
                </a:solidFill>
              </a:rPr>
              <a:t>The deck uses the final CSV provided by the user; no additional filtering was applied after import.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320040" y="71323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315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Members drive volume; casual riders show longer, more leisure-oriented behavior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29184" y="1133856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Business question: How do annual members and casual riders use bikes differently?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11480" y="1508760"/>
            <a:ext cx="26060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D9E1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1627632"/>
            <a:ext cx="227685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6B7280"/>
                </a:solidFill>
              </a:rPr>
              <a:t>TOTAL RIDES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576072" y="1865376"/>
            <a:ext cx="22768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315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791,955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594360" y="2267712"/>
            <a:ext cx="224028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6B7280"/>
                </a:solidFill>
              </a:rPr>
              <a:t>Final analysis file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3246120" y="1508760"/>
            <a:ext cx="26060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D9E1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10712" y="1627632"/>
            <a:ext cx="227685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6B7280"/>
                </a:solidFill>
              </a:rPr>
              <a:t>MEMBER RIDES</a:t>
            </a:r>
            <a:endParaRPr lang="en-US" sz="730" dirty="0"/>
          </a:p>
        </p:txBody>
      </p:sp>
      <p:sp>
        <p:nvSpPr>
          <p:cNvPr id="13" name="Text 11"/>
          <p:cNvSpPr/>
          <p:nvPr/>
        </p:nvSpPr>
        <p:spPr>
          <a:xfrm>
            <a:off x="3410712" y="1865376"/>
            <a:ext cx="22768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28E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720K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3429000" y="2267712"/>
            <a:ext cx="224028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6B7280"/>
                </a:solidFill>
              </a:rPr>
              <a:t>91.0% of rides</a:t>
            </a:r>
            <a:endParaRPr lang="en-US" sz="720" dirty="0"/>
          </a:p>
        </p:txBody>
      </p:sp>
      <p:sp>
        <p:nvSpPr>
          <p:cNvPr id="15" name="Shape 13"/>
          <p:cNvSpPr/>
          <p:nvPr/>
        </p:nvSpPr>
        <p:spPr>
          <a:xfrm>
            <a:off x="6080760" y="1508760"/>
            <a:ext cx="26060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D9E1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45352" y="1627632"/>
            <a:ext cx="227685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6B7280"/>
                </a:solidFill>
              </a:rPr>
              <a:t>CASUAL RIDES</a:t>
            </a:r>
            <a:endParaRPr lang="en-US" sz="730" dirty="0"/>
          </a:p>
        </p:txBody>
      </p:sp>
      <p:sp>
        <p:nvSpPr>
          <p:cNvPr id="17" name="Text 15"/>
          <p:cNvSpPr/>
          <p:nvPr/>
        </p:nvSpPr>
        <p:spPr>
          <a:xfrm>
            <a:off x="6245352" y="1865376"/>
            <a:ext cx="22768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F6FA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72K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6263640" y="2267712"/>
            <a:ext cx="224028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6B7280"/>
                </a:solidFill>
              </a:rPr>
              <a:t>9.0% of rides</a:t>
            </a:r>
            <a:endParaRPr lang="en-US" sz="720" dirty="0"/>
          </a:p>
        </p:txBody>
      </p:sp>
      <p:sp>
        <p:nvSpPr>
          <p:cNvPr id="19" name="Shape 17"/>
          <p:cNvSpPr/>
          <p:nvPr/>
        </p:nvSpPr>
        <p:spPr>
          <a:xfrm>
            <a:off x="8915400" y="1508760"/>
            <a:ext cx="26060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D9E1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079992" y="1627632"/>
            <a:ext cx="227685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6B7280"/>
                </a:solidFill>
              </a:rPr>
              <a:t>AVERAGE LENGTH</a:t>
            </a:r>
            <a:endParaRPr lang="en-US" sz="730" dirty="0"/>
          </a:p>
        </p:txBody>
      </p:sp>
      <p:sp>
        <p:nvSpPr>
          <p:cNvPr id="21" name="Text 19"/>
          <p:cNvSpPr/>
          <p:nvPr/>
        </p:nvSpPr>
        <p:spPr>
          <a:xfrm>
            <a:off x="9079992" y="1865376"/>
            <a:ext cx="22768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315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18.0 min</a:t>
            </a:r>
            <a:endParaRPr lang="en-US" sz="2300" dirty="0"/>
          </a:p>
        </p:txBody>
      </p:sp>
      <p:sp>
        <p:nvSpPr>
          <p:cNvPr id="22" name="Text 20"/>
          <p:cNvSpPr/>
          <p:nvPr/>
        </p:nvSpPr>
        <p:spPr>
          <a:xfrm>
            <a:off x="9098280" y="2267712"/>
            <a:ext cx="224028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6B7280"/>
                </a:solidFill>
              </a:rPr>
              <a:t>Median: 9.0 min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411480" y="2788920"/>
            <a:ext cx="5440680" cy="3246120"/>
          </a:xfrm>
          <a:prstGeom prst="roundRect">
            <a:avLst>
              <a:gd name="adj" fmla="val 2254"/>
            </a:avLst>
          </a:prstGeom>
          <a:solidFill>
            <a:srgbClr val="F3F6F9"/>
          </a:solidFill>
          <a:ln w="9525">
            <a:solidFill>
              <a:srgbClr val="D9E1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305409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154"/>
                </a:solidFill>
              </a:rPr>
              <a:t>Executive answer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685800" y="3611880"/>
            <a:ext cx="82296" cy="82296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50392" y="3566160"/>
            <a:ext cx="4727448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222222"/>
                </a:solidFill>
              </a:rPr>
              <a:t>Members dominate ride volume</a:t>
            </a:r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</a:rPr>
              <a:t>: 91.0% of all rides are from members.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85800" y="4032504"/>
            <a:ext cx="82296" cy="82296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0392" y="3986784"/>
            <a:ext cx="4727448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222222"/>
                </a:solidFill>
              </a:rPr>
              <a:t>Casual riders take longer rides</a:t>
            </a:r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</a:rPr>
              <a:t>: average duration is materially higher for casual riders.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85800" y="4453128"/>
            <a:ext cx="82296" cy="82296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50392" y="4407408"/>
            <a:ext cx="4727448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222222"/>
                </a:solidFill>
              </a:rPr>
              <a:t>Casual usage is weekend-skewed</a:t>
            </a:r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</a:rPr>
              <a:t>: Sunday and Saturday carry the highest casual ride share.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85800" y="4873752"/>
            <a:ext cx="82296" cy="82296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0392" y="4828032"/>
            <a:ext cx="4727448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222222"/>
                </a:solidFill>
              </a:rPr>
              <a:t>Members show routine hourly peaks</a:t>
            </a:r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</a:rPr>
              <a:t>: strongest activity occurs around 08:00 and 17:00.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126480" y="2788920"/>
            <a:ext cx="2514600" cy="324612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9525">
            <a:solidFill>
              <a:srgbClr val="D9E1E8"/>
            </a:solidFill>
            <a:prstDash val="solid"/>
          </a:ln>
        </p:spPr>
      </p:sp>
      <p:pic>
        <p:nvPicPr>
          <p:cNvPr id="34" name="Image 0" descr="/mnt/data/cyclistic_user_assets/rider_mix_don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3640" y="3133895"/>
            <a:ext cx="2240280" cy="2556170"/>
          </a:xfrm>
          <a:prstGeom prst="rect">
            <a:avLst/>
          </a:prstGeom>
        </p:spPr>
      </p:pic>
      <p:sp>
        <p:nvSpPr>
          <p:cNvPr id="35" name="Shape 32"/>
          <p:cNvSpPr/>
          <p:nvPr/>
        </p:nvSpPr>
        <p:spPr>
          <a:xfrm>
            <a:off x="8869680" y="2788920"/>
            <a:ext cx="2514600" cy="324612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9525">
            <a:solidFill>
              <a:srgbClr val="D9E1E8"/>
            </a:solidFill>
            <a:prstDash val="solid"/>
          </a:ln>
        </p:spPr>
      </p:sp>
      <p:pic>
        <p:nvPicPr>
          <p:cNvPr id="36" name="Image 1" descr="/mnt/data/cyclistic_user_assets/ride_count_by_year_typ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0" y="3802284"/>
            <a:ext cx="2240280" cy="1219393"/>
          </a:xfrm>
          <a:prstGeom prst="rect">
            <a:avLst/>
          </a:prstGeom>
        </p:spPr>
      </p:pic>
      <p:sp>
        <p:nvSpPr>
          <p:cNvPr id="37" name="Shape 3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320040" y="6656832"/>
            <a:ext cx="86868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B7280"/>
                </a:solidFill>
              </a:rPr>
              <a:t>Cyclistic Bike-Share Analysis • Q1 2019 vs Q1 2020 • Based on final CSV provided</a:t>
            </a:r>
            <a:endParaRPr lang="en-US" sz="650" dirty="0"/>
          </a:p>
        </p:txBody>
      </p:sp>
      <p:sp>
        <p:nvSpPr>
          <p:cNvPr id="39" name="Text 35"/>
          <p:cNvSpPr/>
          <p:nvPr/>
        </p:nvSpPr>
        <p:spPr>
          <a:xfrm>
            <a:off x="9875520" y="6656832"/>
            <a:ext cx="19202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B7280"/>
                </a:solidFill>
              </a:rPr>
              <a:t>Prepared for executive review</a:t>
            </a:r>
            <a:endParaRPr lang="en-US" sz="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0B3154"/>
          </a:solidFill>
          <a:ln w="12700">
            <a:solidFill>
              <a:srgbClr val="0B315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09728"/>
            <a:ext cx="8869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Ask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329184" y="365760"/>
            <a:ext cx="9418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CE8F3"/>
                </a:solidFill>
              </a:rPr>
              <a:t>Clarify the problem and stakeholders before analysis.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320040" y="71323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315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task and decision context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29184" y="1133856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Cyclistic wants to convert casual riders into annual members using data-backed marketing strategy.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508760"/>
            <a:ext cx="5029200" cy="1828800"/>
          </a:xfrm>
          <a:prstGeom prst="roundRect">
            <a:avLst>
              <a:gd name="adj" fmla="val 4000"/>
            </a:avLst>
          </a:prstGeom>
          <a:solidFill>
            <a:srgbClr val="EAF3FB"/>
          </a:solidFill>
          <a:ln w="9525">
            <a:solidFill>
              <a:srgbClr val="BBD6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78308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6FAE"/>
                </a:solidFill>
              </a:rPr>
              <a:t>Primary question assigned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77240" y="2103120"/>
            <a:ext cx="438912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3154"/>
                </a:solidFill>
              </a:rPr>
              <a:t>How do annual members and casual riders use Cyclistic bikes differently?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777240" y="2944368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B7280"/>
                </a:solidFill>
              </a:rPr>
              <a:t>This deck focuses on behavior differences that can inform membership conversion tactics.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5852160" y="1508760"/>
            <a:ext cx="5806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E1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53912" y="1783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154"/>
                </a:solidFill>
              </a:rPr>
              <a:t>Stakeholders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172200" y="2258568"/>
            <a:ext cx="82296" cy="82296"/>
          </a:xfrm>
          <a:prstGeom prst="ellipse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36792" y="2212848"/>
            <a:ext cx="4956048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222222"/>
                </a:solidFill>
              </a:rPr>
              <a:t>Lily Moreno</a:t>
            </a:r>
            <a:pPr indent="0" marL="0">
              <a:buNone/>
            </a:pPr>
            <a:r>
              <a:rPr lang="en-US" sz="1020" dirty="0">
                <a:solidFill>
                  <a:srgbClr val="222222"/>
                </a:solidFill>
              </a:rPr>
              <a:t>: Director of Marketing; owns campaign strategy.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6172200" y="2624328"/>
            <a:ext cx="82296" cy="82296"/>
          </a:xfrm>
          <a:prstGeom prst="ellipse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36792" y="2578608"/>
            <a:ext cx="4956048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222222"/>
                </a:solidFill>
              </a:rPr>
              <a:t>Marketing analytics team</a:t>
            </a:r>
            <a:pPr indent="0" marL="0">
              <a:buNone/>
            </a:pPr>
            <a:r>
              <a:rPr lang="en-US" sz="1020" dirty="0">
                <a:solidFill>
                  <a:srgbClr val="222222"/>
                </a:solidFill>
              </a:rPr>
              <a:t>: prepares analysis and reporting.</a:t>
            </a:r>
            <a:endParaRPr lang="en-US" sz="1020" dirty="0"/>
          </a:p>
        </p:txBody>
      </p:sp>
      <p:sp>
        <p:nvSpPr>
          <p:cNvPr id="17" name="Shape 15"/>
          <p:cNvSpPr/>
          <p:nvPr/>
        </p:nvSpPr>
        <p:spPr>
          <a:xfrm>
            <a:off x="6172200" y="2990088"/>
            <a:ext cx="82296" cy="82296"/>
          </a:xfrm>
          <a:prstGeom prst="ellipse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36792" y="2944368"/>
            <a:ext cx="4956048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222222"/>
                </a:solidFill>
              </a:rPr>
              <a:t>Executive team</a:t>
            </a:r>
            <a:pPr indent="0" marL="0">
              <a:buNone/>
            </a:pPr>
            <a:r>
              <a:rPr lang="en-US" sz="1020" dirty="0">
                <a:solidFill>
                  <a:srgbClr val="222222"/>
                </a:solidFill>
              </a:rPr>
              <a:t>: approves recommendations and investment.</a:t>
            </a:r>
            <a:endParaRPr lang="en-US" sz="1020" dirty="0"/>
          </a:p>
        </p:txBody>
      </p:sp>
      <p:sp>
        <p:nvSpPr>
          <p:cNvPr id="19" name="Text 17"/>
          <p:cNvSpPr/>
          <p:nvPr/>
        </p:nvSpPr>
        <p:spPr>
          <a:xfrm>
            <a:off x="548640" y="373075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154"/>
                </a:solidFill>
              </a:rPr>
              <a:t>Required case study deliverables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02920" y="4160520"/>
            <a:ext cx="3429000" cy="566928"/>
          </a:xfrm>
          <a:prstGeom prst="roundRect">
            <a:avLst>
              <a:gd name="adj" fmla="val 12903"/>
            </a:avLst>
          </a:prstGeom>
          <a:solidFill>
            <a:srgbClr val="F3F6F9"/>
          </a:solidFill>
          <a:ln w="9525">
            <a:solidFill>
              <a:srgbClr val="D9E1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0936" y="4288536"/>
            <a:ext cx="310896" cy="310896"/>
          </a:xfrm>
          <a:prstGeom prst="ellipse">
            <a:avLst/>
          </a:prstGeom>
          <a:solidFill>
            <a:srgbClr val="0B3154"/>
          </a:solidFill>
          <a:ln w="12700">
            <a:solidFill>
              <a:srgbClr val="0B315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" y="4347972"/>
            <a:ext cx="31089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1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33272" y="4334256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2222"/>
                </a:solidFill>
              </a:rPr>
              <a:t>Business task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4297680" y="4160520"/>
            <a:ext cx="3429000" cy="566928"/>
          </a:xfrm>
          <a:prstGeom prst="roundRect">
            <a:avLst>
              <a:gd name="adj" fmla="val 12903"/>
            </a:avLst>
          </a:prstGeom>
          <a:solidFill>
            <a:srgbClr val="F3F6F9"/>
          </a:solidFill>
          <a:ln w="9525">
            <a:solidFill>
              <a:srgbClr val="D9E1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25696" y="4288536"/>
            <a:ext cx="310896" cy="310896"/>
          </a:xfrm>
          <a:prstGeom prst="ellipse">
            <a:avLst/>
          </a:prstGeom>
          <a:solidFill>
            <a:srgbClr val="0B3154"/>
          </a:solidFill>
          <a:ln w="12700">
            <a:solidFill>
              <a:srgbClr val="0B315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425696" y="4347972"/>
            <a:ext cx="31089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2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828032" y="4334256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2222"/>
                </a:solidFill>
              </a:rPr>
              <a:t>Data sources</a:t>
            </a:r>
            <a:endParaRPr lang="en-US" sz="960" dirty="0"/>
          </a:p>
        </p:txBody>
      </p:sp>
      <p:sp>
        <p:nvSpPr>
          <p:cNvPr id="28" name="Shape 26"/>
          <p:cNvSpPr/>
          <p:nvPr/>
        </p:nvSpPr>
        <p:spPr>
          <a:xfrm>
            <a:off x="8092440" y="4160520"/>
            <a:ext cx="3429000" cy="566928"/>
          </a:xfrm>
          <a:prstGeom prst="roundRect">
            <a:avLst>
              <a:gd name="adj" fmla="val 12903"/>
            </a:avLst>
          </a:prstGeom>
          <a:solidFill>
            <a:srgbClr val="F3F6F9"/>
          </a:solidFill>
          <a:ln w="9525">
            <a:solidFill>
              <a:srgbClr val="D9E1E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20456" y="4288536"/>
            <a:ext cx="310896" cy="310896"/>
          </a:xfrm>
          <a:prstGeom prst="ellipse">
            <a:avLst/>
          </a:prstGeom>
          <a:solidFill>
            <a:srgbClr val="0B3154"/>
          </a:solidFill>
          <a:ln w="12700">
            <a:solidFill>
              <a:srgbClr val="0B315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20456" y="4347972"/>
            <a:ext cx="31089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3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622792" y="4334256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2222"/>
                </a:solidFill>
              </a:rPr>
              <a:t>Cleaning documentation</a:t>
            </a:r>
            <a:endParaRPr lang="en-US" sz="960" dirty="0"/>
          </a:p>
        </p:txBody>
      </p:sp>
      <p:sp>
        <p:nvSpPr>
          <p:cNvPr id="32" name="Shape 30"/>
          <p:cNvSpPr/>
          <p:nvPr/>
        </p:nvSpPr>
        <p:spPr>
          <a:xfrm>
            <a:off x="502920" y="4946904"/>
            <a:ext cx="34290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9E1E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0936" y="5074920"/>
            <a:ext cx="310896" cy="310896"/>
          </a:xfrm>
          <a:prstGeom prst="ellipse">
            <a:avLst/>
          </a:prstGeom>
          <a:solidFill>
            <a:srgbClr val="0B3154"/>
          </a:solidFill>
          <a:ln w="12700">
            <a:solidFill>
              <a:srgbClr val="0B315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0936" y="5134356"/>
            <a:ext cx="31089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4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033272" y="5120640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2222"/>
                </a:solidFill>
              </a:rPr>
              <a:t>Analysis summary</a:t>
            </a:r>
            <a:endParaRPr lang="en-US" sz="960" dirty="0"/>
          </a:p>
        </p:txBody>
      </p:sp>
      <p:sp>
        <p:nvSpPr>
          <p:cNvPr id="36" name="Shape 34"/>
          <p:cNvSpPr/>
          <p:nvPr/>
        </p:nvSpPr>
        <p:spPr>
          <a:xfrm>
            <a:off x="4297680" y="4946904"/>
            <a:ext cx="34290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9E1E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25696" y="5074920"/>
            <a:ext cx="310896" cy="310896"/>
          </a:xfrm>
          <a:prstGeom prst="ellipse">
            <a:avLst/>
          </a:prstGeom>
          <a:solidFill>
            <a:srgbClr val="0B3154"/>
          </a:solidFill>
          <a:ln w="12700">
            <a:solidFill>
              <a:srgbClr val="0B315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425696" y="5134356"/>
            <a:ext cx="31089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5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4828032" y="5120640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2222"/>
                </a:solidFill>
              </a:rPr>
              <a:t>Visual findings</a:t>
            </a:r>
            <a:endParaRPr lang="en-US" sz="960" dirty="0"/>
          </a:p>
        </p:txBody>
      </p:sp>
      <p:sp>
        <p:nvSpPr>
          <p:cNvPr id="40" name="Shape 38"/>
          <p:cNvSpPr/>
          <p:nvPr/>
        </p:nvSpPr>
        <p:spPr>
          <a:xfrm>
            <a:off x="8092440" y="4946904"/>
            <a:ext cx="34290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9E1E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220456" y="5074920"/>
            <a:ext cx="310896" cy="310896"/>
          </a:xfrm>
          <a:prstGeom prst="ellipse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220456" y="5134356"/>
            <a:ext cx="31089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6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8622792" y="5120640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2222"/>
                </a:solidFill>
              </a:rPr>
              <a:t>Top 3 recommendations</a:t>
            </a:r>
            <a:endParaRPr lang="en-US" sz="960" dirty="0"/>
          </a:p>
        </p:txBody>
      </p:sp>
      <p:sp>
        <p:nvSpPr>
          <p:cNvPr id="44" name="Text 42"/>
          <p:cNvSpPr/>
          <p:nvPr/>
        </p:nvSpPr>
        <p:spPr>
          <a:xfrm>
            <a:off x="521208" y="6053328"/>
            <a:ext cx="10515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</a:rPr>
              <a:t>Source: Case study brief assigns the first business question and requires six deliverables.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20040" y="6656832"/>
            <a:ext cx="86868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B7280"/>
                </a:solidFill>
              </a:rPr>
              <a:t>Cyclistic Bike-Share Analysis • Q1 2019 vs Q1 2020 • Based on final CSV provided</a:t>
            </a:r>
            <a:endParaRPr lang="en-US" sz="650" dirty="0"/>
          </a:p>
        </p:txBody>
      </p:sp>
      <p:sp>
        <p:nvSpPr>
          <p:cNvPr id="47" name="Text 45"/>
          <p:cNvSpPr/>
          <p:nvPr/>
        </p:nvSpPr>
        <p:spPr>
          <a:xfrm>
            <a:off x="9875520" y="6656832"/>
            <a:ext cx="19202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B7280"/>
                </a:solidFill>
              </a:rPr>
              <a:t>Prepared for executive review</a:t>
            </a:r>
            <a:endParaRPr lang="en-US" sz="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0B3154"/>
          </a:solidFill>
          <a:ln w="12700">
            <a:solidFill>
              <a:srgbClr val="0B315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09728"/>
            <a:ext cx="8869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Prepare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329184" y="365760"/>
            <a:ext cx="9418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CE8F3"/>
                </a:solidFill>
              </a:rPr>
              <a:t>Define the data, scope, and toolchain used in the analysis.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320040" y="71323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315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 source, scope, and analysis file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29184" y="1133856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The analysis is based on the final CSV supplied for this case study and visualized in Tableau.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508760"/>
            <a:ext cx="25603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1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" y="1627632"/>
            <a:ext cx="223113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6B7280"/>
                </a:solidFill>
              </a:rPr>
              <a:t>2019 RECORDS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667512" y="1865376"/>
            <a:ext cx="22311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315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365,069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685800" y="2221992"/>
            <a:ext cx="219456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6B7280"/>
                </a:solidFill>
              </a:rPr>
              <a:t>Divvy Trips Q1 2019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3291840" y="1508760"/>
            <a:ext cx="25603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1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56432" y="1627632"/>
            <a:ext cx="223113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6B7280"/>
                </a:solidFill>
              </a:rPr>
              <a:t>2020 RECORDS</a:t>
            </a:r>
            <a:endParaRPr lang="en-US" sz="730" dirty="0"/>
          </a:p>
        </p:txBody>
      </p:sp>
      <p:sp>
        <p:nvSpPr>
          <p:cNvPr id="13" name="Text 11"/>
          <p:cNvSpPr/>
          <p:nvPr/>
        </p:nvSpPr>
        <p:spPr>
          <a:xfrm>
            <a:off x="3456432" y="1865376"/>
            <a:ext cx="22311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315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426,886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3474720" y="2221992"/>
            <a:ext cx="219456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6B7280"/>
                </a:solidFill>
              </a:rPr>
              <a:t>Divvy Trips Q1 2020</a:t>
            </a:r>
            <a:endParaRPr lang="en-US" sz="720" dirty="0"/>
          </a:p>
        </p:txBody>
      </p:sp>
      <p:sp>
        <p:nvSpPr>
          <p:cNvPr id="15" name="Shape 13"/>
          <p:cNvSpPr/>
          <p:nvPr/>
        </p:nvSpPr>
        <p:spPr>
          <a:xfrm>
            <a:off x="6080760" y="1508760"/>
            <a:ext cx="25603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1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45352" y="1627632"/>
            <a:ext cx="223113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6B7280"/>
                </a:solidFill>
              </a:rPr>
              <a:t>COMBINED RECORDS</a:t>
            </a:r>
            <a:endParaRPr lang="en-US" sz="730" dirty="0"/>
          </a:p>
        </p:txBody>
      </p:sp>
      <p:sp>
        <p:nvSpPr>
          <p:cNvPr id="17" name="Text 15"/>
          <p:cNvSpPr/>
          <p:nvPr/>
        </p:nvSpPr>
        <p:spPr>
          <a:xfrm>
            <a:off x="6245352" y="1865376"/>
            <a:ext cx="22311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315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791,955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6263640" y="2221992"/>
            <a:ext cx="219456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6B7280"/>
                </a:solidFill>
              </a:rPr>
              <a:t>Appended dataset</a:t>
            </a:r>
            <a:endParaRPr lang="en-US" sz="720" dirty="0"/>
          </a:p>
        </p:txBody>
      </p:sp>
      <p:sp>
        <p:nvSpPr>
          <p:cNvPr id="19" name="Shape 17"/>
          <p:cNvSpPr/>
          <p:nvPr/>
        </p:nvSpPr>
        <p:spPr>
          <a:xfrm>
            <a:off x="8869680" y="1508760"/>
            <a:ext cx="25603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1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034272" y="1627632"/>
            <a:ext cx="223113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6B7280"/>
                </a:solidFill>
              </a:rPr>
              <a:t>RIDER TYPES</a:t>
            </a:r>
            <a:endParaRPr lang="en-US" sz="730" dirty="0"/>
          </a:p>
        </p:txBody>
      </p:sp>
      <p:sp>
        <p:nvSpPr>
          <p:cNvPr id="21" name="Text 19"/>
          <p:cNvSpPr/>
          <p:nvPr/>
        </p:nvSpPr>
        <p:spPr>
          <a:xfrm>
            <a:off x="9034272" y="1865376"/>
            <a:ext cx="22311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315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2300" dirty="0"/>
          </a:p>
        </p:txBody>
      </p:sp>
      <p:sp>
        <p:nvSpPr>
          <p:cNvPr id="22" name="Text 20"/>
          <p:cNvSpPr/>
          <p:nvPr/>
        </p:nvSpPr>
        <p:spPr>
          <a:xfrm>
            <a:off x="9052560" y="2221992"/>
            <a:ext cx="219456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6B7280"/>
                </a:solidFill>
              </a:rPr>
              <a:t>member and casual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502920" y="2743200"/>
            <a:ext cx="566928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D9E1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2999232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154"/>
                </a:solidFill>
              </a:rPr>
              <a:t>Fields used for the story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77240" y="3502152"/>
            <a:ext cx="82296" cy="82296"/>
          </a:xfrm>
          <a:prstGeom prst="ellipse">
            <a:avLst/>
          </a:prstGeom>
          <a:solidFill>
            <a:srgbClr val="2F6FAE"/>
          </a:solidFill>
          <a:ln w="12700">
            <a:solidFill>
              <a:srgbClr val="2F6F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1832" y="3456432"/>
            <a:ext cx="4590288" cy="2743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</a:rPr>
              <a:t>ride_id, started_at, ended_at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77240" y="3858768"/>
            <a:ext cx="82296" cy="82296"/>
          </a:xfrm>
          <a:prstGeom prst="ellipse">
            <a:avLst/>
          </a:prstGeom>
          <a:solidFill>
            <a:srgbClr val="2F6FAE"/>
          </a:solidFill>
          <a:ln w="12700">
            <a:solidFill>
              <a:srgbClr val="2F6F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41832" y="3813048"/>
            <a:ext cx="4590288" cy="2743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</a:rPr>
              <a:t>member_casual, ride_length_minute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77240" y="4215384"/>
            <a:ext cx="82296" cy="82296"/>
          </a:xfrm>
          <a:prstGeom prst="ellipse">
            <a:avLst/>
          </a:prstGeom>
          <a:solidFill>
            <a:srgbClr val="2F6FAE"/>
          </a:solidFill>
          <a:ln w="12700">
            <a:solidFill>
              <a:srgbClr val="2F6F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41832" y="4169664"/>
            <a:ext cx="4590288" cy="2743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</a:rPr>
              <a:t>day_of_week, day_name, start_hour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77240" y="4572000"/>
            <a:ext cx="82296" cy="82296"/>
          </a:xfrm>
          <a:prstGeom prst="ellipse">
            <a:avLst/>
          </a:prstGeom>
          <a:solidFill>
            <a:srgbClr val="2F6FAE"/>
          </a:solidFill>
          <a:ln w="12700">
            <a:solidFill>
              <a:srgbClr val="2F6F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41832" y="4526280"/>
            <a:ext cx="4590288" cy="2743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</a:rPr>
              <a:t>year and station names for context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777240" y="507492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</a:rPr>
              <a:t>Privacy note: no personally identifiable rider data is used.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446520" y="2743200"/>
            <a:ext cx="5212080" cy="2651760"/>
          </a:xfrm>
          <a:prstGeom prst="roundRect">
            <a:avLst>
              <a:gd name="adj" fmla="val 2759"/>
            </a:avLst>
          </a:prstGeom>
          <a:solidFill>
            <a:srgbClr val="F3F6F9"/>
          </a:solidFill>
          <a:ln w="9525">
            <a:solidFill>
              <a:srgbClr val="D9E1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20840" y="2999232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154"/>
                </a:solidFill>
              </a:rPr>
              <a:t>Scope boundaries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6720840" y="3538728"/>
            <a:ext cx="82296" cy="82296"/>
          </a:xfrm>
          <a:prstGeom prst="ellipse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885432" y="3493008"/>
            <a:ext cx="4361688" cy="2743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222222"/>
                </a:solidFill>
              </a:rPr>
              <a:t>This is a Q1 2019 vs Q1 2020 comparison, not a full-year seasonality analysis.</a:t>
            </a:r>
            <a:endParaRPr lang="en-US" sz="1030" dirty="0"/>
          </a:p>
        </p:txBody>
      </p:sp>
      <p:sp>
        <p:nvSpPr>
          <p:cNvPr id="38" name="Shape 36"/>
          <p:cNvSpPr/>
          <p:nvPr/>
        </p:nvSpPr>
        <p:spPr>
          <a:xfrm>
            <a:off x="6720840" y="3968496"/>
            <a:ext cx="82296" cy="82296"/>
          </a:xfrm>
          <a:prstGeom prst="ellipse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85432" y="3922776"/>
            <a:ext cx="4361688" cy="2743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222222"/>
                </a:solidFill>
              </a:rPr>
              <a:t>The deck uses the supplied final CSV as the analysis dataset.</a:t>
            </a:r>
            <a:endParaRPr lang="en-US" sz="1030" dirty="0"/>
          </a:p>
        </p:txBody>
      </p:sp>
      <p:sp>
        <p:nvSpPr>
          <p:cNvPr id="40" name="Shape 38"/>
          <p:cNvSpPr/>
          <p:nvPr/>
        </p:nvSpPr>
        <p:spPr>
          <a:xfrm>
            <a:off x="6720840" y="4398264"/>
            <a:ext cx="82296" cy="82296"/>
          </a:xfrm>
          <a:prstGeom prst="ellipse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85432" y="4352544"/>
            <a:ext cx="4361688" cy="2743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222222"/>
                </a:solidFill>
              </a:rPr>
              <a:t>No additional filtering or recalculation is applied after import into this deck.</a:t>
            </a:r>
            <a:endParaRPr lang="en-US" sz="1030" dirty="0"/>
          </a:p>
        </p:txBody>
      </p:sp>
      <p:sp>
        <p:nvSpPr>
          <p:cNvPr id="42" name="Shape 40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0040" y="6656832"/>
            <a:ext cx="86868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B7280"/>
                </a:solidFill>
              </a:rPr>
              <a:t>Cyclistic Bike-Share Analysis • Q1 2019 vs Q1 2020 • Based on final CSV provided</a:t>
            </a:r>
            <a:endParaRPr lang="en-US" sz="650" dirty="0"/>
          </a:p>
        </p:txBody>
      </p:sp>
      <p:sp>
        <p:nvSpPr>
          <p:cNvPr id="44" name="Text 42"/>
          <p:cNvSpPr/>
          <p:nvPr/>
        </p:nvSpPr>
        <p:spPr>
          <a:xfrm>
            <a:off x="9875520" y="6656832"/>
            <a:ext cx="19202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B7280"/>
                </a:solidFill>
              </a:rPr>
              <a:t>Prepared for executive review</a:t>
            </a:r>
            <a:endParaRPr lang="en-US" sz="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0B3154"/>
          </a:solidFill>
          <a:ln w="12700">
            <a:solidFill>
              <a:srgbClr val="0B315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09728"/>
            <a:ext cx="8869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Process &amp; Analyze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329184" y="365760"/>
            <a:ext cx="9418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CE8F3"/>
                </a:solidFill>
              </a:rPr>
              <a:t>Prepare the data so member and casual behavior can be compared reliably.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320040" y="71323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315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Analysis workflow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29184" y="1133856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Python/Colab was used to prepare the combined dataset; Tableau was used to create the dashboard.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914400" y="2130552"/>
            <a:ext cx="9235440" cy="0"/>
          </a:xfrm>
          <a:prstGeom prst="line">
            <a:avLst/>
          </a:prstGeom>
          <a:noFill/>
          <a:ln w="25400">
            <a:solidFill>
              <a:srgbClr val="D9E1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310896" cy="310896"/>
          </a:xfrm>
          <a:prstGeom prst="ellipse">
            <a:avLst/>
          </a:prstGeom>
          <a:solidFill>
            <a:srgbClr val="0B3154"/>
          </a:solidFill>
          <a:ln w="12700">
            <a:solidFill>
              <a:srgbClr val="0B31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025396"/>
            <a:ext cx="31089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1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57200" y="2496312"/>
            <a:ext cx="196596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9E1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" y="2679192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b="1" dirty="0">
                <a:solidFill>
                  <a:srgbClr val="0B3154"/>
                </a:solidFill>
              </a:rPr>
              <a:t>Import CSV files</a:t>
            </a:r>
            <a:endParaRPr lang="en-US" sz="1130" dirty="0"/>
          </a:p>
        </p:txBody>
      </p:sp>
      <p:sp>
        <p:nvSpPr>
          <p:cNvPr id="12" name="Text 10"/>
          <p:cNvSpPr/>
          <p:nvPr/>
        </p:nvSpPr>
        <p:spPr>
          <a:xfrm>
            <a:off x="612648" y="299008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6B7280"/>
                </a:solidFill>
              </a:rPr>
              <a:t>Load 2019 Q1 and 2020 Q1 trip data.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2816352" y="1965960"/>
            <a:ext cx="310896" cy="310896"/>
          </a:xfrm>
          <a:prstGeom prst="ellipse">
            <a:avLst/>
          </a:prstGeom>
          <a:solidFill>
            <a:srgbClr val="0B3154"/>
          </a:solidFill>
          <a:ln w="12700">
            <a:solidFill>
              <a:srgbClr val="0B315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16352" y="2025396"/>
            <a:ext cx="31089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2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770632" y="2496312"/>
            <a:ext cx="1965960" cy="1207008"/>
          </a:xfrm>
          <a:prstGeom prst="roundRect">
            <a:avLst>
              <a:gd name="adj" fmla="val 6061"/>
            </a:avLst>
          </a:prstGeom>
          <a:solidFill>
            <a:srgbClr val="F3F6F9"/>
          </a:solidFill>
          <a:ln w="9525">
            <a:solidFill>
              <a:srgbClr val="D9E1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926080" y="2679192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b="1" dirty="0">
                <a:solidFill>
                  <a:srgbClr val="0B3154"/>
                </a:solidFill>
              </a:rPr>
              <a:t>Standardize columns</a:t>
            </a:r>
            <a:endParaRPr lang="en-US" sz="1130" dirty="0"/>
          </a:p>
        </p:txBody>
      </p:sp>
      <p:sp>
        <p:nvSpPr>
          <p:cNvPr id="17" name="Text 15"/>
          <p:cNvSpPr/>
          <p:nvPr/>
        </p:nvSpPr>
        <p:spPr>
          <a:xfrm>
            <a:off x="2926080" y="299008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6B7280"/>
                </a:solidFill>
              </a:rPr>
              <a:t>Align names and rider categories.</a:t>
            </a:r>
            <a:endParaRPr lang="en-US" sz="860" dirty="0"/>
          </a:p>
        </p:txBody>
      </p:sp>
      <p:sp>
        <p:nvSpPr>
          <p:cNvPr id="18" name="Shape 16"/>
          <p:cNvSpPr/>
          <p:nvPr/>
        </p:nvSpPr>
        <p:spPr>
          <a:xfrm>
            <a:off x="5129784" y="1965960"/>
            <a:ext cx="310896" cy="310896"/>
          </a:xfrm>
          <a:prstGeom prst="ellipse">
            <a:avLst/>
          </a:prstGeom>
          <a:solidFill>
            <a:srgbClr val="0B3154"/>
          </a:solidFill>
          <a:ln w="12700">
            <a:solidFill>
              <a:srgbClr val="0B315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29784" y="2025396"/>
            <a:ext cx="31089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3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5084064" y="2496312"/>
            <a:ext cx="196596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9E1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39512" y="2679192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b="1" dirty="0">
                <a:solidFill>
                  <a:srgbClr val="0B3154"/>
                </a:solidFill>
              </a:rPr>
              <a:t>Create time fields</a:t>
            </a:r>
            <a:endParaRPr lang="en-US" sz="1130" dirty="0"/>
          </a:p>
        </p:txBody>
      </p:sp>
      <p:sp>
        <p:nvSpPr>
          <p:cNvPr id="22" name="Text 20"/>
          <p:cNvSpPr/>
          <p:nvPr/>
        </p:nvSpPr>
        <p:spPr>
          <a:xfrm>
            <a:off x="5239512" y="299008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6B7280"/>
                </a:solidFill>
              </a:rPr>
              <a:t>ride_length, day_name, start_hour.</a:t>
            </a:r>
            <a:endParaRPr lang="en-US" sz="860" dirty="0"/>
          </a:p>
        </p:txBody>
      </p:sp>
      <p:sp>
        <p:nvSpPr>
          <p:cNvPr id="23" name="Shape 21"/>
          <p:cNvSpPr/>
          <p:nvPr/>
        </p:nvSpPr>
        <p:spPr>
          <a:xfrm>
            <a:off x="7443216" y="1965960"/>
            <a:ext cx="310896" cy="310896"/>
          </a:xfrm>
          <a:prstGeom prst="ellipse">
            <a:avLst/>
          </a:prstGeom>
          <a:solidFill>
            <a:srgbClr val="0B3154"/>
          </a:solidFill>
          <a:ln w="12700">
            <a:solidFill>
              <a:srgbClr val="0B315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43216" y="2025396"/>
            <a:ext cx="31089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4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7397496" y="2496312"/>
            <a:ext cx="1965960" cy="1207008"/>
          </a:xfrm>
          <a:prstGeom prst="roundRect">
            <a:avLst>
              <a:gd name="adj" fmla="val 6061"/>
            </a:avLst>
          </a:prstGeom>
          <a:solidFill>
            <a:srgbClr val="F3F6F9"/>
          </a:solidFill>
          <a:ln w="9525">
            <a:solidFill>
              <a:srgbClr val="D9E1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552944" y="2679192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b="1" dirty="0">
                <a:solidFill>
                  <a:srgbClr val="0B3154"/>
                </a:solidFill>
              </a:rPr>
              <a:t>Append datasets</a:t>
            </a:r>
            <a:endParaRPr lang="en-US" sz="1130" dirty="0"/>
          </a:p>
        </p:txBody>
      </p:sp>
      <p:sp>
        <p:nvSpPr>
          <p:cNvPr id="27" name="Text 25"/>
          <p:cNvSpPr/>
          <p:nvPr/>
        </p:nvSpPr>
        <p:spPr>
          <a:xfrm>
            <a:off x="7552944" y="299008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6B7280"/>
                </a:solidFill>
              </a:rPr>
              <a:t>Combine rows into one dataset.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9756648" y="1965960"/>
            <a:ext cx="310896" cy="310896"/>
          </a:xfrm>
          <a:prstGeom prst="ellipse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756648" y="2025396"/>
            <a:ext cx="31089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5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9710928" y="2496312"/>
            <a:ext cx="196596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9E1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866376" y="2679192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b="1" dirty="0">
                <a:solidFill>
                  <a:srgbClr val="0B3154"/>
                </a:solidFill>
              </a:rPr>
              <a:t>Visualize &amp; interpret</a:t>
            </a:r>
            <a:endParaRPr lang="en-US" sz="1130" dirty="0"/>
          </a:p>
        </p:txBody>
      </p:sp>
      <p:sp>
        <p:nvSpPr>
          <p:cNvPr id="32" name="Text 30"/>
          <p:cNvSpPr/>
          <p:nvPr/>
        </p:nvSpPr>
        <p:spPr>
          <a:xfrm>
            <a:off x="9866376" y="299008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6B7280"/>
                </a:solidFill>
              </a:rPr>
              <a:t>Build Tableau dashboard and PPT.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594360" y="4572000"/>
            <a:ext cx="10972800" cy="1051560"/>
          </a:xfrm>
          <a:prstGeom prst="roundRect">
            <a:avLst>
              <a:gd name="adj" fmla="val 6957"/>
            </a:avLst>
          </a:prstGeom>
          <a:solidFill>
            <a:srgbClr val="EAF7F5"/>
          </a:solidFill>
          <a:ln w="9525">
            <a:solidFill>
              <a:srgbClr val="B7E0D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68680" y="480060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154"/>
                </a:solidFill>
              </a:rPr>
              <a:t>Documentation statement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868680" y="5102352"/>
            <a:ext cx="101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222222"/>
                </a:solidFill>
              </a:rPr>
              <a:t>The final dataset contains 791,955 rows and 15 fields. It supports analysis of ride volume, ride duration, weekday distribution, and hourly usage patterns by rider type and year.</a:t>
            </a:r>
            <a:endParaRPr lang="en-US" sz="1020" dirty="0"/>
          </a:p>
        </p:txBody>
      </p:sp>
      <p:sp>
        <p:nvSpPr>
          <p:cNvPr id="36" name="Shape 3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0040" y="6656832"/>
            <a:ext cx="86868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B7280"/>
                </a:solidFill>
              </a:rPr>
              <a:t>Cyclistic Bike-Share Analysis • Q1 2019 vs Q1 2020 • Based on final CSV provided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9875520" y="6656832"/>
            <a:ext cx="19202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B7280"/>
                </a:solidFill>
              </a:rPr>
              <a:t>Prepared for executive review</a:t>
            </a:r>
            <a:endParaRPr lang="en-US" sz="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0B3154"/>
          </a:solidFill>
          <a:ln w="12700">
            <a:solidFill>
              <a:srgbClr val="0B315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09728"/>
            <a:ext cx="8869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Finding 1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329184" y="365760"/>
            <a:ext cx="9418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CE8F3"/>
                </a:solidFill>
              </a:rPr>
              <a:t>Ride volume by rider type and year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320040" y="71323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315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Members generate the overwhelming majority of rides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29184" y="1133856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In the final dataset, members account for 720K rides, while casual riders account for 72K rides.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662940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9525">
            <a:solidFill>
              <a:srgbClr val="D9E1E8"/>
            </a:solidFill>
            <a:prstDash val="solid"/>
          </a:ln>
        </p:spPr>
      </p:sp>
      <p:pic>
        <p:nvPicPr>
          <p:cNvPr id="8" name="Image 0" descr="/mnt/data/cyclistic_user_assets/ride_count_by_year_ty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69201"/>
            <a:ext cx="6355080" cy="345909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452360" y="1481328"/>
            <a:ext cx="4160520" cy="4434840"/>
          </a:xfrm>
          <a:prstGeom prst="roundRect">
            <a:avLst>
              <a:gd name="adj" fmla="val 1758"/>
            </a:avLst>
          </a:prstGeom>
          <a:solidFill>
            <a:srgbClr val="F3F6F9"/>
          </a:solidFill>
          <a:ln w="9525">
            <a:solidFill>
              <a:srgbClr val="D9E1E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26680" y="17830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154"/>
                </a:solidFill>
              </a:rPr>
              <a:t>What the chart shows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7726680" y="2313432"/>
            <a:ext cx="82296" cy="82296"/>
          </a:xfrm>
          <a:prstGeom prst="ellipse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891272" y="2267712"/>
            <a:ext cx="3264408" cy="2743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222222"/>
                </a:solidFill>
              </a:rPr>
              <a:t>Member rides: 720,313 (91.0%).</a:t>
            </a:r>
            <a:endParaRPr lang="en-US" sz="1030" dirty="0"/>
          </a:p>
        </p:txBody>
      </p:sp>
      <p:sp>
        <p:nvSpPr>
          <p:cNvPr id="13" name="Shape 10"/>
          <p:cNvSpPr/>
          <p:nvPr/>
        </p:nvSpPr>
        <p:spPr>
          <a:xfrm>
            <a:off x="7726680" y="2706624"/>
            <a:ext cx="82296" cy="82296"/>
          </a:xfrm>
          <a:prstGeom prst="ellipse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91272" y="2660904"/>
            <a:ext cx="3264408" cy="2743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222222"/>
                </a:solidFill>
              </a:rPr>
              <a:t>Casual rides: 71,642 (9.0%).</a:t>
            </a:r>
            <a:endParaRPr lang="en-US" sz="1030" dirty="0"/>
          </a:p>
        </p:txBody>
      </p:sp>
      <p:sp>
        <p:nvSpPr>
          <p:cNvPr id="15" name="Shape 12"/>
          <p:cNvSpPr/>
          <p:nvPr/>
        </p:nvSpPr>
        <p:spPr>
          <a:xfrm>
            <a:off x="7726680" y="3099816"/>
            <a:ext cx="82296" cy="82296"/>
          </a:xfrm>
          <a:prstGeom prst="ellipse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91272" y="3054096"/>
            <a:ext cx="3264408" cy="2743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222222"/>
                </a:solidFill>
              </a:rPr>
              <a:t>Members make roughly 10× more trips than casual riders.</a:t>
            </a:r>
            <a:endParaRPr lang="en-US" sz="1030" dirty="0"/>
          </a:p>
        </p:txBody>
      </p:sp>
      <p:sp>
        <p:nvSpPr>
          <p:cNvPr id="17" name="Shape 14"/>
          <p:cNvSpPr/>
          <p:nvPr/>
        </p:nvSpPr>
        <p:spPr>
          <a:xfrm>
            <a:off x="7726680" y="3493008"/>
            <a:ext cx="82296" cy="82296"/>
          </a:xfrm>
          <a:prstGeom prst="ellipse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91272" y="3447288"/>
            <a:ext cx="3264408" cy="2743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222222"/>
                </a:solidFill>
              </a:rPr>
              <a:t>This confirms that member behavior is more frequent and routine by volume.</a:t>
            </a:r>
            <a:endParaRPr lang="en-US" sz="1030" dirty="0"/>
          </a:p>
        </p:txBody>
      </p:sp>
      <p:sp>
        <p:nvSpPr>
          <p:cNvPr id="19" name="Text 16"/>
          <p:cNvSpPr/>
          <p:nvPr/>
        </p:nvSpPr>
        <p:spPr>
          <a:xfrm>
            <a:off x="7726680" y="478231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154"/>
                </a:solidFill>
              </a:rPr>
              <a:t>Implication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7726680" y="5074920"/>
            <a:ext cx="342900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30" dirty="0">
                <a:solidFill>
                  <a:srgbClr val="222222"/>
                </a:solidFill>
              </a:rPr>
              <a:t>Growth does not require explaining the service from scratch: casual riders already use the system and can be targeted for conversion.</a:t>
            </a:r>
            <a:endParaRPr lang="en-US" sz="930" dirty="0"/>
          </a:p>
        </p:txBody>
      </p:sp>
      <p:sp>
        <p:nvSpPr>
          <p:cNvPr id="21" name="Shape 1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20040" y="6656832"/>
            <a:ext cx="86868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B7280"/>
                </a:solidFill>
              </a:rPr>
              <a:t>Cyclistic Bike-Share Analysis • Q1 2019 vs Q1 2020 • Based on final CSV provided</a:t>
            </a:r>
            <a:endParaRPr lang="en-US" sz="650" dirty="0"/>
          </a:p>
        </p:txBody>
      </p:sp>
      <p:sp>
        <p:nvSpPr>
          <p:cNvPr id="23" name="Text 20"/>
          <p:cNvSpPr/>
          <p:nvPr/>
        </p:nvSpPr>
        <p:spPr>
          <a:xfrm>
            <a:off x="9875520" y="6656832"/>
            <a:ext cx="19202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B7280"/>
                </a:solidFill>
              </a:rPr>
              <a:t>Prepared for executive review</a:t>
            </a:r>
            <a:endParaRPr lang="en-US" sz="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0B3154"/>
          </a:solidFill>
          <a:ln w="12700">
            <a:solidFill>
              <a:srgbClr val="0B315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09728"/>
            <a:ext cx="8869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Finding 2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329184" y="365760"/>
            <a:ext cx="9418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CE8F3"/>
                </a:solidFill>
              </a:rPr>
              <a:t>Average and median ride length by rider type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320040" y="71323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315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Casual riders take longer trips than members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29184" y="1133856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The average ride length is higher for casual riders in both years; the median confirms the same directional pattern.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640080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9525">
            <a:solidFill>
              <a:srgbClr val="D9E1E8"/>
            </a:solidFill>
            <a:prstDash val="solid"/>
          </a:ln>
        </p:spPr>
      </p:sp>
      <p:pic>
        <p:nvPicPr>
          <p:cNvPr id="8" name="Image 0" descr="/mnt/data/cyclistic_user_assets/avg_duration_by_year_ty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031415"/>
            <a:ext cx="6126480" cy="3334666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269480" y="1627632"/>
            <a:ext cx="19659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D9E1E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434072" y="1746504"/>
            <a:ext cx="163677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6B7280"/>
                </a:solidFill>
              </a:rPr>
              <a:t>CASUAL AVG</a:t>
            </a:r>
            <a:endParaRPr lang="en-US" sz="730" dirty="0"/>
          </a:p>
        </p:txBody>
      </p:sp>
      <p:sp>
        <p:nvSpPr>
          <p:cNvPr id="11" name="Text 8"/>
          <p:cNvSpPr/>
          <p:nvPr/>
        </p:nvSpPr>
        <p:spPr>
          <a:xfrm>
            <a:off x="7434072" y="1984248"/>
            <a:ext cx="16367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F6FA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76.8 min</a:t>
            </a:r>
            <a:endParaRPr lang="en-US" sz="2300" dirty="0"/>
          </a:p>
        </p:txBody>
      </p:sp>
      <p:sp>
        <p:nvSpPr>
          <p:cNvPr id="12" name="Text 9"/>
          <p:cNvSpPr/>
          <p:nvPr/>
        </p:nvSpPr>
        <p:spPr>
          <a:xfrm>
            <a:off x="7452360" y="2432304"/>
            <a:ext cx="16002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6B7280"/>
                </a:solidFill>
              </a:rPr>
              <a:t>Median 22.0 min</a:t>
            </a:r>
            <a:endParaRPr lang="en-US" sz="720" dirty="0"/>
          </a:p>
        </p:txBody>
      </p:sp>
      <p:sp>
        <p:nvSpPr>
          <p:cNvPr id="13" name="Shape 10"/>
          <p:cNvSpPr/>
          <p:nvPr/>
        </p:nvSpPr>
        <p:spPr>
          <a:xfrm>
            <a:off x="9464040" y="1627632"/>
            <a:ext cx="19659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D9E1E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628632" y="1746504"/>
            <a:ext cx="163677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6B7280"/>
                </a:solidFill>
              </a:rPr>
              <a:t>MEMBER AVG</a:t>
            </a:r>
            <a:endParaRPr lang="en-US" sz="730" dirty="0"/>
          </a:p>
        </p:txBody>
      </p:sp>
      <p:sp>
        <p:nvSpPr>
          <p:cNvPr id="15" name="Text 12"/>
          <p:cNvSpPr/>
          <p:nvPr/>
        </p:nvSpPr>
        <p:spPr>
          <a:xfrm>
            <a:off x="9628632" y="1984248"/>
            <a:ext cx="16367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28E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12.1 min</a:t>
            </a:r>
            <a:endParaRPr lang="en-US" sz="2300" dirty="0"/>
          </a:p>
        </p:txBody>
      </p:sp>
      <p:sp>
        <p:nvSpPr>
          <p:cNvPr id="16" name="Text 13"/>
          <p:cNvSpPr/>
          <p:nvPr/>
        </p:nvSpPr>
        <p:spPr>
          <a:xfrm>
            <a:off x="9646920" y="2432304"/>
            <a:ext cx="16002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6B7280"/>
                </a:solidFill>
              </a:rPr>
              <a:t>Median 8.5 min</a:t>
            </a:r>
            <a:endParaRPr lang="en-US" sz="720" dirty="0"/>
          </a:p>
        </p:txBody>
      </p:sp>
      <p:sp>
        <p:nvSpPr>
          <p:cNvPr id="17" name="Shape 14"/>
          <p:cNvSpPr/>
          <p:nvPr/>
        </p:nvSpPr>
        <p:spPr>
          <a:xfrm>
            <a:off x="7269480" y="2971800"/>
            <a:ext cx="4160520" cy="2834640"/>
          </a:xfrm>
          <a:prstGeom prst="roundRect">
            <a:avLst>
              <a:gd name="adj" fmla="val 2581"/>
            </a:avLst>
          </a:prstGeom>
          <a:solidFill>
            <a:srgbClr val="F3F6F9"/>
          </a:solidFill>
          <a:ln w="9525">
            <a:solidFill>
              <a:srgbClr val="D9E1E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525512" y="3218688"/>
            <a:ext cx="3611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154"/>
                </a:solidFill>
              </a:rPr>
              <a:t>Specific values from the supplied CSV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7525512" y="3721608"/>
            <a:ext cx="82296" cy="82296"/>
          </a:xfrm>
          <a:prstGeom prst="ellipse">
            <a:avLst/>
          </a:prstGeom>
          <a:solidFill>
            <a:srgbClr val="2F6FAE"/>
          </a:solidFill>
          <a:ln w="12700">
            <a:solidFill>
              <a:srgbClr val="2F6FA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90104" y="3675888"/>
            <a:ext cx="3328416" cy="2743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930" dirty="0">
                <a:solidFill>
                  <a:srgbClr val="222222"/>
                </a:solidFill>
              </a:rPr>
              <a:t>2019 casual avg: 37.07 min; member avg: 11.49 min.</a:t>
            </a:r>
            <a:endParaRPr lang="en-US" sz="930" dirty="0"/>
          </a:p>
        </p:txBody>
      </p:sp>
      <p:sp>
        <p:nvSpPr>
          <p:cNvPr id="21" name="Shape 18"/>
          <p:cNvSpPr/>
          <p:nvPr/>
        </p:nvSpPr>
        <p:spPr>
          <a:xfrm>
            <a:off x="7525512" y="4169664"/>
            <a:ext cx="82296" cy="82296"/>
          </a:xfrm>
          <a:prstGeom prst="ellipse">
            <a:avLst/>
          </a:prstGeom>
          <a:solidFill>
            <a:srgbClr val="2F6FAE"/>
          </a:solidFill>
          <a:ln w="12700">
            <a:solidFill>
              <a:srgbClr val="2F6FA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690104" y="4123944"/>
            <a:ext cx="3328416" cy="2743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930" dirty="0">
                <a:solidFill>
                  <a:srgbClr val="222222"/>
                </a:solidFill>
              </a:rPr>
              <a:t>2020 casual avg: 95.78 min; member avg: 12.68 min.</a:t>
            </a:r>
            <a:endParaRPr lang="en-US" sz="930" dirty="0"/>
          </a:p>
        </p:txBody>
      </p:sp>
      <p:sp>
        <p:nvSpPr>
          <p:cNvPr id="23" name="Shape 20"/>
          <p:cNvSpPr/>
          <p:nvPr/>
        </p:nvSpPr>
        <p:spPr>
          <a:xfrm>
            <a:off x="7525512" y="4617720"/>
            <a:ext cx="82296" cy="82296"/>
          </a:xfrm>
          <a:prstGeom prst="ellipse">
            <a:avLst/>
          </a:prstGeom>
          <a:solidFill>
            <a:srgbClr val="2F6FAE"/>
          </a:solidFill>
          <a:ln w="12700">
            <a:solidFill>
              <a:srgbClr val="2F6FA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690104" y="4572000"/>
            <a:ext cx="3328416" cy="2743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930" dirty="0">
                <a:solidFill>
                  <a:srgbClr val="222222"/>
                </a:solidFill>
              </a:rPr>
              <a:t>This supports messaging that targets casual riders with long-trip value propositions.</a:t>
            </a:r>
            <a:endParaRPr lang="en-US" sz="930" dirty="0"/>
          </a:p>
        </p:txBody>
      </p:sp>
      <p:sp>
        <p:nvSpPr>
          <p:cNvPr id="25" name="Text 22"/>
          <p:cNvSpPr/>
          <p:nvPr/>
        </p:nvSpPr>
        <p:spPr>
          <a:xfrm>
            <a:off x="7516368" y="5376672"/>
            <a:ext cx="3611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" dirty="0">
                <a:solidFill>
                  <a:srgbClr val="6B7280"/>
                </a:solidFill>
              </a:rPr>
              <a:t>Note: These figures use the final CSV exactly as provided. They match the Tableau dashboard values.</a:t>
            </a:r>
            <a:endParaRPr lang="en-US" sz="760" dirty="0"/>
          </a:p>
        </p:txBody>
      </p:sp>
      <p:sp>
        <p:nvSpPr>
          <p:cNvPr id="26" name="Shape 2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20040" y="6656832"/>
            <a:ext cx="86868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B7280"/>
                </a:solidFill>
              </a:rPr>
              <a:t>Cyclistic Bike-Share Analysis • Q1 2019 vs Q1 2020 • Based on final CSV provided</a:t>
            </a:r>
            <a:endParaRPr lang="en-US" sz="650" dirty="0"/>
          </a:p>
        </p:txBody>
      </p:sp>
      <p:sp>
        <p:nvSpPr>
          <p:cNvPr id="28" name="Text 25"/>
          <p:cNvSpPr/>
          <p:nvPr/>
        </p:nvSpPr>
        <p:spPr>
          <a:xfrm>
            <a:off x="9875520" y="6656832"/>
            <a:ext cx="19202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B7280"/>
                </a:solidFill>
              </a:rPr>
              <a:t>Prepared for executive review</a:t>
            </a:r>
            <a:endParaRPr lang="en-US" sz="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0B3154"/>
          </a:solidFill>
          <a:ln w="12700">
            <a:solidFill>
              <a:srgbClr val="0B315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09728"/>
            <a:ext cx="8869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Finding 3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329184" y="365760"/>
            <a:ext cx="9418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CE8F3"/>
                </a:solidFill>
              </a:rPr>
              <a:t>Weekday distribution by rider type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320040" y="71323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315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Casual riding is more concentrated on weekends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29184" y="1133856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Casual riders over-index on Sunday and Saturday; members concentrate more on weekdays.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640080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9525">
            <a:solidFill>
              <a:srgbClr val="D9E1E8"/>
            </a:solidFill>
            <a:prstDash val="solid"/>
          </a:ln>
        </p:spPr>
      </p:sp>
      <p:pic>
        <p:nvPicPr>
          <p:cNvPr id="8" name="Image 0" descr="/mnt/data/cyclistic_user_assets/weekday_share_by_ty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031415"/>
            <a:ext cx="6126480" cy="3334666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269480" y="1481328"/>
            <a:ext cx="4160520" cy="4434840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 w="9525">
            <a:solidFill>
              <a:srgbClr val="D9E1E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543800" y="17830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154"/>
                </a:solidFill>
              </a:rPr>
              <a:t>Weekend skew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7543800" y="2240280"/>
            <a:ext cx="178308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D9E1E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708392" y="2359152"/>
            <a:ext cx="145389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6B7280"/>
                </a:solidFill>
              </a:rPr>
              <a:t>CASUAL SUNDAY</a:t>
            </a:r>
            <a:endParaRPr lang="en-US" sz="730" dirty="0"/>
          </a:p>
        </p:txBody>
      </p:sp>
      <p:sp>
        <p:nvSpPr>
          <p:cNvPr id="13" name="Text 10"/>
          <p:cNvSpPr/>
          <p:nvPr/>
        </p:nvSpPr>
        <p:spPr>
          <a:xfrm>
            <a:off x="7708392" y="2596896"/>
            <a:ext cx="14538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F6FA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26.0%</a:t>
            </a:r>
            <a:endParaRPr lang="en-US" sz="2300" dirty="0"/>
          </a:p>
        </p:txBody>
      </p:sp>
      <p:sp>
        <p:nvSpPr>
          <p:cNvPr id="14" name="Text 11"/>
          <p:cNvSpPr/>
          <p:nvPr/>
        </p:nvSpPr>
        <p:spPr>
          <a:xfrm>
            <a:off x="7726680" y="3044952"/>
            <a:ext cx="14173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6B7280"/>
                </a:solidFill>
              </a:rPr>
              <a:t>highest share</a:t>
            </a:r>
            <a:endParaRPr lang="en-US" sz="720" dirty="0"/>
          </a:p>
        </p:txBody>
      </p:sp>
      <p:sp>
        <p:nvSpPr>
          <p:cNvPr id="15" name="Shape 12"/>
          <p:cNvSpPr/>
          <p:nvPr/>
        </p:nvSpPr>
        <p:spPr>
          <a:xfrm>
            <a:off x="9436608" y="2240280"/>
            <a:ext cx="178308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D9E1E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601200" y="2359152"/>
            <a:ext cx="145389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6B7280"/>
                </a:solidFill>
              </a:rPr>
              <a:t>CASUAL SATURDAY</a:t>
            </a:r>
            <a:endParaRPr lang="en-US" sz="730" dirty="0"/>
          </a:p>
        </p:txBody>
      </p:sp>
      <p:sp>
        <p:nvSpPr>
          <p:cNvPr id="17" name="Text 14"/>
          <p:cNvSpPr/>
          <p:nvPr/>
        </p:nvSpPr>
        <p:spPr>
          <a:xfrm>
            <a:off x="9601200" y="2596896"/>
            <a:ext cx="14538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F6FA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18.8%</a:t>
            </a:r>
            <a:endParaRPr lang="en-US" sz="2300" dirty="0"/>
          </a:p>
        </p:txBody>
      </p:sp>
      <p:sp>
        <p:nvSpPr>
          <p:cNvPr id="18" name="Text 15"/>
          <p:cNvSpPr/>
          <p:nvPr/>
        </p:nvSpPr>
        <p:spPr>
          <a:xfrm>
            <a:off x="9619488" y="3044952"/>
            <a:ext cx="14173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6B7280"/>
                </a:solidFill>
              </a:rPr>
              <a:t>second-highest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7543800" y="3493008"/>
            <a:ext cx="178308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D9E1E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708392" y="3611880"/>
            <a:ext cx="145389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6B7280"/>
                </a:solidFill>
              </a:rPr>
              <a:t>MEMBER TUESDAY</a:t>
            </a:r>
            <a:endParaRPr lang="en-US" sz="730" dirty="0"/>
          </a:p>
        </p:txBody>
      </p:sp>
      <p:sp>
        <p:nvSpPr>
          <p:cNvPr id="21" name="Text 18"/>
          <p:cNvSpPr/>
          <p:nvPr/>
        </p:nvSpPr>
        <p:spPr>
          <a:xfrm>
            <a:off x="7708392" y="3849624"/>
            <a:ext cx="14538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28E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17.8%</a:t>
            </a:r>
            <a:endParaRPr lang="en-US" sz="2300" dirty="0"/>
          </a:p>
        </p:txBody>
      </p:sp>
      <p:sp>
        <p:nvSpPr>
          <p:cNvPr id="22" name="Text 19"/>
          <p:cNvSpPr/>
          <p:nvPr/>
        </p:nvSpPr>
        <p:spPr>
          <a:xfrm>
            <a:off x="7726680" y="4297680"/>
            <a:ext cx="14173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6B7280"/>
                </a:solidFill>
              </a:rPr>
              <a:t>weekday peak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9436608" y="3493008"/>
            <a:ext cx="178308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D9E1E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601200" y="3611880"/>
            <a:ext cx="145389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6B7280"/>
                </a:solidFill>
              </a:rPr>
              <a:t>MEMBER WEEKEND</a:t>
            </a:r>
            <a:endParaRPr lang="en-US" sz="730" dirty="0"/>
          </a:p>
        </p:txBody>
      </p:sp>
      <p:sp>
        <p:nvSpPr>
          <p:cNvPr id="25" name="Text 22"/>
          <p:cNvSpPr/>
          <p:nvPr/>
        </p:nvSpPr>
        <p:spPr>
          <a:xfrm>
            <a:off x="9601200" y="3849624"/>
            <a:ext cx="14538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28E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16.6%</a:t>
            </a:r>
            <a:endParaRPr lang="en-US" sz="2300" dirty="0"/>
          </a:p>
        </p:txBody>
      </p:sp>
      <p:sp>
        <p:nvSpPr>
          <p:cNvPr id="26" name="Text 23"/>
          <p:cNvSpPr/>
          <p:nvPr/>
        </p:nvSpPr>
        <p:spPr>
          <a:xfrm>
            <a:off x="9619488" y="4297680"/>
            <a:ext cx="14173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6B7280"/>
                </a:solidFill>
              </a:rPr>
              <a:t>Sun + Sat</a:t>
            </a:r>
            <a:endParaRPr lang="en-US" sz="720" dirty="0"/>
          </a:p>
        </p:txBody>
      </p:sp>
      <p:sp>
        <p:nvSpPr>
          <p:cNvPr id="27" name="Text 24"/>
          <p:cNvSpPr/>
          <p:nvPr/>
        </p:nvSpPr>
        <p:spPr>
          <a:xfrm>
            <a:off x="7543800" y="498348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154"/>
                </a:solidFill>
              </a:rPr>
              <a:t>Implication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7543800" y="5257800"/>
            <a:ext cx="34747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30" dirty="0">
                <a:solidFill>
                  <a:srgbClr val="222222"/>
                </a:solidFill>
              </a:rPr>
              <a:t>Weekend touchpoints are more relevant for casual conversion than broad, all-week messaging.</a:t>
            </a:r>
            <a:endParaRPr lang="en-US" sz="930" dirty="0"/>
          </a:p>
        </p:txBody>
      </p:sp>
      <p:sp>
        <p:nvSpPr>
          <p:cNvPr id="29" name="Shape 2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20040" y="6656832"/>
            <a:ext cx="86868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B7280"/>
                </a:solidFill>
              </a:rPr>
              <a:t>Cyclistic Bike-Share Analysis • Q1 2019 vs Q1 2020 • Based on final CSV provided</a:t>
            </a:r>
            <a:endParaRPr lang="en-US" sz="650" dirty="0"/>
          </a:p>
        </p:txBody>
      </p:sp>
      <p:sp>
        <p:nvSpPr>
          <p:cNvPr id="31" name="Text 28"/>
          <p:cNvSpPr/>
          <p:nvPr/>
        </p:nvSpPr>
        <p:spPr>
          <a:xfrm>
            <a:off x="9875520" y="6656832"/>
            <a:ext cx="19202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B7280"/>
                </a:solidFill>
              </a:rPr>
              <a:t>Prepared for executive review</a:t>
            </a:r>
            <a:endParaRPr lang="en-US" sz="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0B3154"/>
          </a:solidFill>
          <a:ln w="12700">
            <a:solidFill>
              <a:srgbClr val="0B315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09728"/>
            <a:ext cx="8869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Finding 4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329184" y="365760"/>
            <a:ext cx="9418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CE8F3"/>
                </a:solidFill>
              </a:rPr>
              <a:t>Hourly usage patterns by rider type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320040" y="71323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315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Members show stronger routine hourly usage patterns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29184" y="1133856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Member activity has clear morning and evening peaks; casual activity peaks later in the day.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672084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9525">
            <a:solidFill>
              <a:srgbClr val="D9E1E8"/>
            </a:solidFill>
            <a:prstDash val="solid"/>
          </a:ln>
        </p:spPr>
      </p:sp>
      <p:pic>
        <p:nvPicPr>
          <p:cNvPr id="8" name="Image 0" descr="/mnt/data/cyclistic_user_assets/hourly_pattern_by_ty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43081"/>
            <a:ext cx="6446520" cy="3511335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498080" y="1481328"/>
            <a:ext cx="3931920" cy="4434840"/>
          </a:xfrm>
          <a:prstGeom prst="roundRect">
            <a:avLst>
              <a:gd name="adj" fmla="val 1860"/>
            </a:avLst>
          </a:prstGeom>
          <a:solidFill>
            <a:srgbClr val="F3F6F9"/>
          </a:solidFill>
          <a:ln w="9525">
            <a:solidFill>
              <a:srgbClr val="D9E1E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0" y="17830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154"/>
                </a:solidFill>
              </a:rPr>
              <a:t>Peak usage from the CSV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7772400" y="2331720"/>
            <a:ext cx="155448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D9E1E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936992" y="2450592"/>
            <a:ext cx="122529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6B7280"/>
                </a:solidFill>
              </a:rPr>
              <a:t>MEMBER PEAK</a:t>
            </a:r>
            <a:endParaRPr lang="en-US" sz="730" dirty="0"/>
          </a:p>
        </p:txBody>
      </p:sp>
      <p:sp>
        <p:nvSpPr>
          <p:cNvPr id="13" name="Text 10"/>
          <p:cNvSpPr/>
          <p:nvPr/>
        </p:nvSpPr>
        <p:spPr>
          <a:xfrm>
            <a:off x="7936992" y="2688336"/>
            <a:ext cx="12252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28E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17:00</a:t>
            </a:r>
            <a:endParaRPr lang="en-US" sz="2300" dirty="0"/>
          </a:p>
        </p:txBody>
      </p:sp>
      <p:sp>
        <p:nvSpPr>
          <p:cNvPr id="14" name="Text 11"/>
          <p:cNvSpPr/>
          <p:nvPr/>
        </p:nvSpPr>
        <p:spPr>
          <a:xfrm>
            <a:off x="7955280" y="2971800"/>
            <a:ext cx="11887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6B7280"/>
                </a:solidFill>
              </a:rPr>
              <a:t>95,865 rides</a:t>
            </a:r>
            <a:endParaRPr lang="en-US" sz="720" dirty="0"/>
          </a:p>
        </p:txBody>
      </p:sp>
      <p:sp>
        <p:nvSpPr>
          <p:cNvPr id="15" name="Shape 12"/>
          <p:cNvSpPr/>
          <p:nvPr/>
        </p:nvSpPr>
        <p:spPr>
          <a:xfrm>
            <a:off x="9555480" y="2331720"/>
            <a:ext cx="155448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D9E1E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720072" y="2450592"/>
            <a:ext cx="122529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6B7280"/>
                </a:solidFill>
              </a:rPr>
              <a:t>CASUAL PEAK</a:t>
            </a:r>
            <a:endParaRPr lang="en-US" sz="730" dirty="0"/>
          </a:p>
        </p:txBody>
      </p:sp>
      <p:sp>
        <p:nvSpPr>
          <p:cNvPr id="17" name="Text 14"/>
          <p:cNvSpPr/>
          <p:nvPr/>
        </p:nvSpPr>
        <p:spPr>
          <a:xfrm>
            <a:off x="9720072" y="2688336"/>
            <a:ext cx="12252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F6FA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15:00</a:t>
            </a:r>
            <a:endParaRPr lang="en-US" sz="2300" dirty="0"/>
          </a:p>
        </p:txBody>
      </p:sp>
      <p:sp>
        <p:nvSpPr>
          <p:cNvPr id="18" name="Text 15"/>
          <p:cNvSpPr/>
          <p:nvPr/>
        </p:nvSpPr>
        <p:spPr>
          <a:xfrm>
            <a:off x="9738360" y="2971800"/>
            <a:ext cx="11887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6B7280"/>
                </a:solidFill>
              </a:rPr>
              <a:t>7,999 rides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7818120" y="3657600"/>
            <a:ext cx="82296" cy="82296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982712" y="3611880"/>
            <a:ext cx="3035808" cy="2743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222222"/>
                </a:solidFill>
              </a:rPr>
              <a:t>Members display sharper 08:00 and 17:00 peaks.</a:t>
            </a:r>
            <a:endParaRPr lang="en-US" sz="980" dirty="0"/>
          </a:p>
        </p:txBody>
      </p:sp>
      <p:sp>
        <p:nvSpPr>
          <p:cNvPr id="21" name="Shape 18"/>
          <p:cNvSpPr/>
          <p:nvPr/>
        </p:nvSpPr>
        <p:spPr>
          <a:xfrm>
            <a:off x="7818120" y="4050792"/>
            <a:ext cx="82296" cy="82296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82712" y="4005072"/>
            <a:ext cx="3035808" cy="2743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222222"/>
                </a:solidFill>
              </a:rPr>
              <a:t>Casual rides build through midday and afternoon.</a:t>
            </a:r>
            <a:endParaRPr lang="en-US" sz="980" dirty="0"/>
          </a:p>
        </p:txBody>
      </p:sp>
      <p:sp>
        <p:nvSpPr>
          <p:cNvPr id="23" name="Shape 20"/>
          <p:cNvSpPr/>
          <p:nvPr/>
        </p:nvSpPr>
        <p:spPr>
          <a:xfrm>
            <a:off x="7818120" y="4443984"/>
            <a:ext cx="82296" cy="82296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982712" y="4398264"/>
            <a:ext cx="3035808" cy="2743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222222"/>
                </a:solidFill>
              </a:rPr>
              <a:t>Use “commute-related” as an inference, not a confirmed cause.</a:t>
            </a:r>
            <a:endParaRPr lang="en-US" sz="980" dirty="0"/>
          </a:p>
        </p:txBody>
      </p:sp>
      <p:sp>
        <p:nvSpPr>
          <p:cNvPr id="25" name="Shape 22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20040" y="6656832"/>
            <a:ext cx="86868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B7280"/>
                </a:solidFill>
              </a:rPr>
              <a:t>Cyclistic Bike-Share Analysis • Q1 2019 vs Q1 2020 • Based on final CSV provided</a:t>
            </a:r>
            <a:endParaRPr lang="en-US" sz="650" dirty="0"/>
          </a:p>
        </p:txBody>
      </p:sp>
      <p:sp>
        <p:nvSpPr>
          <p:cNvPr id="27" name="Text 24"/>
          <p:cNvSpPr/>
          <p:nvPr/>
        </p:nvSpPr>
        <p:spPr>
          <a:xfrm>
            <a:off x="9875520" y="6656832"/>
            <a:ext cx="19202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B7280"/>
                </a:solidFill>
              </a:rPr>
              <a:t>Prepared for executive review</a:t>
            </a:r>
            <a:endParaRPr lang="en-US" sz="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0B3154"/>
          </a:solidFill>
          <a:ln w="12700">
            <a:solidFill>
              <a:srgbClr val="0B315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09728"/>
            <a:ext cx="8869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Share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329184" y="365760"/>
            <a:ext cx="9418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CE8F3"/>
                </a:solidFill>
              </a:rPr>
              <a:t>Final Tableau dashboard provided by the user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320040" y="71323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315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Dashboard view: rider behavior comparison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29184" y="1133856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The dashboard combines KPIs, volume, duration, weekday share, and hourly usage in one executive view.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20040" y="1463040"/>
            <a:ext cx="11539728" cy="4636008"/>
          </a:xfrm>
          <a:prstGeom prst="roundRect">
            <a:avLst>
              <a:gd name="adj" fmla="val 1578"/>
            </a:avLst>
          </a:prstGeom>
          <a:solidFill>
            <a:srgbClr val="FFFFFF"/>
          </a:solidFill>
          <a:ln w="9525">
            <a:solidFill>
              <a:srgbClr val="D9E1E8"/>
            </a:solidFill>
            <a:prstDash val="solid"/>
          </a:ln>
        </p:spPr>
      </p:sp>
      <p:pic>
        <p:nvPicPr>
          <p:cNvPr id="8" name="Image 0" descr="/mnt/data/RIDER BEHAVIOR Q1 2019 VS Q1 2020(2)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984" y="1554480"/>
            <a:ext cx="6929840" cy="445312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11480" y="6272784"/>
            <a:ext cx="10881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6B7280"/>
                </a:solidFill>
              </a:rPr>
              <a:t>This screenshot is included as the supporting visualization deliverable. The presentation slides separate the dashboard into decisions and recommendations.</a:t>
            </a:r>
            <a:endParaRPr lang="en-US" sz="720" dirty="0"/>
          </a:p>
        </p:txBody>
      </p:sp>
      <p:sp>
        <p:nvSpPr>
          <p:cNvPr id="10" name="Shap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20040" y="6656832"/>
            <a:ext cx="86868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B7280"/>
                </a:solidFill>
              </a:rPr>
              <a:t>Cyclistic Bike-Share Analysis • Q1 2019 vs Q1 2020 • Based on final CSV provided</a:t>
            </a:r>
            <a:endParaRPr lang="en-US" sz="650" dirty="0"/>
          </a:p>
        </p:txBody>
      </p:sp>
      <p:sp>
        <p:nvSpPr>
          <p:cNvPr id="12" name="Text 9"/>
          <p:cNvSpPr/>
          <p:nvPr/>
        </p:nvSpPr>
        <p:spPr>
          <a:xfrm>
            <a:off x="9875520" y="6656832"/>
            <a:ext cx="19202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B7280"/>
                </a:solidFill>
              </a:rPr>
              <a:t>Prepared for executive review</a:t>
            </a:r>
            <a:endParaRPr lang="en-US" sz="6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0B3154"/>
          </a:solidFill>
          <a:ln w="12700">
            <a:solidFill>
              <a:srgbClr val="0B315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09728"/>
            <a:ext cx="8869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329184" y="365760"/>
            <a:ext cx="9418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CE8F3"/>
                </a:solidFill>
              </a:rPr>
              <a:t>Translate the findings into marketing recommendations.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320040" y="71323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315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Top three recommendations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29184" y="1133856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The recommendations focus on converting casual riders who already show high engagement.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572768"/>
            <a:ext cx="3474720" cy="4069080"/>
          </a:xfrm>
          <a:prstGeom prst="roundRect">
            <a:avLst>
              <a:gd name="adj" fmla="val 2105"/>
            </a:avLst>
          </a:prstGeom>
          <a:solidFill>
            <a:srgbClr val="EAF3FB"/>
          </a:solidFill>
          <a:ln w="9525">
            <a:solidFill>
              <a:srgbClr val="D9E1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874520"/>
            <a:ext cx="310896" cy="310896"/>
          </a:xfrm>
          <a:prstGeom prst="ellipse">
            <a:avLst/>
          </a:prstGeom>
          <a:solidFill>
            <a:srgbClr val="2F6FAE"/>
          </a:solidFill>
          <a:ln w="12700">
            <a:solidFill>
              <a:srgbClr val="2F6FA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933956"/>
            <a:ext cx="31089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1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143000" y="1874520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3154"/>
                </a:solidFill>
              </a:rPr>
              <a:t>Weekend conversion campaign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2697480"/>
            <a:ext cx="2926080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222222"/>
                </a:solidFill>
              </a:rPr>
              <a:t>Target casual riders on Saturday and Sunday with membership trial offers and post-ride prompts.</a:t>
            </a:r>
            <a:endParaRPr lang="en-US" sz="1020" dirty="0"/>
          </a:p>
        </p:txBody>
      </p:sp>
      <p:sp>
        <p:nvSpPr>
          <p:cNvPr id="12" name="Shape 10"/>
          <p:cNvSpPr/>
          <p:nvPr/>
        </p:nvSpPr>
        <p:spPr>
          <a:xfrm>
            <a:off x="777240" y="3886200"/>
            <a:ext cx="2926080" cy="0"/>
          </a:xfrm>
          <a:prstGeom prst="line">
            <a:avLst/>
          </a:prstGeom>
          <a:noFill/>
          <a:ln w="12700">
            <a:solidFill>
              <a:srgbClr val="D9E1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160520"/>
            <a:ext cx="292608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30" i="1" dirty="0">
                <a:solidFill>
                  <a:srgbClr val="6B7280"/>
                </a:solidFill>
              </a:rPr>
              <a:t>Why: casual ride share is highest on Sunday and Saturday.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777240" y="5102352"/>
            <a:ext cx="2926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6B7280"/>
                </a:solidFill>
              </a:rPr>
              <a:t>Measure: CTR, conversion rate, cost per conversion, repeat rides.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4361688" y="1572768"/>
            <a:ext cx="3474720" cy="4069080"/>
          </a:xfrm>
          <a:prstGeom prst="roundRect">
            <a:avLst>
              <a:gd name="adj" fmla="val 2105"/>
            </a:avLst>
          </a:prstGeom>
          <a:solidFill>
            <a:srgbClr val="FFF2E5"/>
          </a:solidFill>
          <a:ln w="9525">
            <a:solidFill>
              <a:srgbClr val="D9E1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90288" y="1874520"/>
            <a:ext cx="310896" cy="310896"/>
          </a:xfrm>
          <a:prstGeom prst="ellipse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90288" y="1933956"/>
            <a:ext cx="31089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2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001768" y="1874520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3154"/>
                </a:solidFill>
              </a:rPr>
              <a:t>Long-trip value messaging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636008" y="2697480"/>
            <a:ext cx="2926080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222222"/>
                </a:solidFill>
              </a:rPr>
              <a:t>Show savings or benefits of membership after longer casual rides and repeat long-duration sessions.</a:t>
            </a:r>
            <a:endParaRPr lang="en-US" sz="1020" dirty="0"/>
          </a:p>
        </p:txBody>
      </p:sp>
      <p:sp>
        <p:nvSpPr>
          <p:cNvPr id="20" name="Shape 18"/>
          <p:cNvSpPr/>
          <p:nvPr/>
        </p:nvSpPr>
        <p:spPr>
          <a:xfrm>
            <a:off x="4636008" y="3886200"/>
            <a:ext cx="2926080" cy="0"/>
          </a:xfrm>
          <a:prstGeom prst="line">
            <a:avLst/>
          </a:prstGeom>
          <a:noFill/>
          <a:ln w="12700">
            <a:solidFill>
              <a:srgbClr val="D9E1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36008" y="4160520"/>
            <a:ext cx="292608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30" i="1" dirty="0">
                <a:solidFill>
                  <a:srgbClr val="6B7280"/>
                </a:solidFill>
              </a:rPr>
              <a:t>Why: casual rides are longer on average and median than member rides.</a:t>
            </a:r>
            <a:endParaRPr lang="en-US" sz="930" dirty="0"/>
          </a:p>
        </p:txBody>
      </p:sp>
      <p:sp>
        <p:nvSpPr>
          <p:cNvPr id="22" name="Text 20"/>
          <p:cNvSpPr/>
          <p:nvPr/>
        </p:nvSpPr>
        <p:spPr>
          <a:xfrm>
            <a:off x="4636008" y="5102352"/>
            <a:ext cx="2926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6B7280"/>
                </a:solidFill>
              </a:rPr>
              <a:t>Measure: CTR, conversion rate, cost per conversion, repeat rides.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8220456" y="1572768"/>
            <a:ext cx="3474720" cy="4069080"/>
          </a:xfrm>
          <a:prstGeom prst="roundRect">
            <a:avLst>
              <a:gd name="adj" fmla="val 2105"/>
            </a:avLst>
          </a:prstGeom>
          <a:solidFill>
            <a:srgbClr val="EAF7F5"/>
          </a:solidFill>
          <a:ln w="9525">
            <a:solidFill>
              <a:srgbClr val="D9E1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449056" y="1874520"/>
            <a:ext cx="310896" cy="310896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449056" y="1933956"/>
            <a:ext cx="31089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3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860536" y="1874520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3154"/>
                </a:solidFill>
              </a:rPr>
              <a:t>Segmented digital experiments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494776" y="2697480"/>
            <a:ext cx="2926080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222222"/>
                </a:solidFill>
              </a:rPr>
              <a:t>Run A/B tests by rider type, day, start hour, and high-casual stations; measure conversion rate.</a:t>
            </a:r>
            <a:endParaRPr lang="en-US" sz="1020" dirty="0"/>
          </a:p>
        </p:txBody>
      </p:sp>
      <p:sp>
        <p:nvSpPr>
          <p:cNvPr id="28" name="Shape 26"/>
          <p:cNvSpPr/>
          <p:nvPr/>
        </p:nvSpPr>
        <p:spPr>
          <a:xfrm>
            <a:off x="8494776" y="3886200"/>
            <a:ext cx="2926080" cy="0"/>
          </a:xfrm>
          <a:prstGeom prst="line">
            <a:avLst/>
          </a:prstGeom>
          <a:noFill/>
          <a:ln w="12700">
            <a:solidFill>
              <a:srgbClr val="D9E1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94776" y="4160520"/>
            <a:ext cx="292608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30" i="1" dirty="0">
                <a:solidFill>
                  <a:srgbClr val="6B7280"/>
                </a:solidFill>
              </a:rPr>
              <a:t>Why: usage patterns are different enough to justify targeted campaigns.</a:t>
            </a:r>
            <a:endParaRPr lang="en-US" sz="930" dirty="0"/>
          </a:p>
        </p:txBody>
      </p:sp>
      <p:sp>
        <p:nvSpPr>
          <p:cNvPr id="30" name="Text 28"/>
          <p:cNvSpPr/>
          <p:nvPr/>
        </p:nvSpPr>
        <p:spPr>
          <a:xfrm>
            <a:off x="8494776" y="5102352"/>
            <a:ext cx="2926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6B7280"/>
                </a:solidFill>
              </a:rPr>
              <a:t>Measure: CTR, conversion rate, cost per conversion, repeat rides.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0040" y="6656832"/>
            <a:ext cx="86868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B7280"/>
                </a:solidFill>
              </a:rPr>
              <a:t>Cyclistic Bike-Share Analysis • Q1 2019 vs Q1 2020 • Based on final CSV provided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9875520" y="6656832"/>
            <a:ext cx="19202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B7280"/>
                </a:solidFill>
              </a:rPr>
              <a:t>Prepared for executive review</a:t>
            </a:r>
            <a:endParaRPr lang="en-US" sz="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0B3154"/>
          </a:solidFill>
          <a:ln w="12700">
            <a:solidFill>
              <a:srgbClr val="0B315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09728"/>
            <a:ext cx="8869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Close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329184" y="365760"/>
            <a:ext cx="9418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CE8F3"/>
                </a:solidFill>
              </a:rPr>
              <a:t>Limitations and next analysis steps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320040" y="71323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315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Use the findings, but avoid over-claiming causality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29184" y="1133856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The data answers usage differences, not the exact reason casual riders would buy a membership.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544068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9525">
            <a:solidFill>
              <a:srgbClr val="D9E1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70078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154"/>
                </a:solidFill>
              </a:rPr>
              <a:t>Limitations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77240" y="2194560"/>
            <a:ext cx="82296" cy="82296"/>
          </a:xfrm>
          <a:prstGeom prst="ellipse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41832" y="2148840"/>
            <a:ext cx="4498848" cy="2743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222222"/>
                </a:solidFill>
              </a:rPr>
              <a:t>Scope is Q1 2019 vs Q1 2020, not a full-year view.</a:t>
            </a:r>
            <a:endParaRPr lang="en-US" sz="1040" dirty="0"/>
          </a:p>
        </p:txBody>
      </p:sp>
      <p:sp>
        <p:nvSpPr>
          <p:cNvPr id="11" name="Shape 9"/>
          <p:cNvSpPr/>
          <p:nvPr/>
        </p:nvSpPr>
        <p:spPr>
          <a:xfrm>
            <a:off x="777240" y="2587752"/>
            <a:ext cx="82296" cy="82296"/>
          </a:xfrm>
          <a:prstGeom prst="ellipse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41832" y="2542032"/>
            <a:ext cx="4498848" cy="2743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222222"/>
                </a:solidFill>
              </a:rPr>
              <a:t>No rider-level identity: repeat behavior cannot be directly tracked.</a:t>
            </a:r>
            <a:endParaRPr lang="en-US" sz="1040" dirty="0"/>
          </a:p>
        </p:txBody>
      </p:sp>
      <p:sp>
        <p:nvSpPr>
          <p:cNvPr id="13" name="Shape 11"/>
          <p:cNvSpPr/>
          <p:nvPr/>
        </p:nvSpPr>
        <p:spPr>
          <a:xfrm>
            <a:off x="777240" y="2980944"/>
            <a:ext cx="82296" cy="82296"/>
          </a:xfrm>
          <a:prstGeom prst="ellipse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41832" y="2935224"/>
            <a:ext cx="4498848" cy="2743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222222"/>
                </a:solidFill>
              </a:rPr>
              <a:t>No pricing, revenue, or membership conversion data is included.</a:t>
            </a:r>
            <a:endParaRPr lang="en-US" sz="1040" dirty="0"/>
          </a:p>
        </p:txBody>
      </p:sp>
      <p:sp>
        <p:nvSpPr>
          <p:cNvPr id="15" name="Shape 13"/>
          <p:cNvSpPr/>
          <p:nvPr/>
        </p:nvSpPr>
        <p:spPr>
          <a:xfrm>
            <a:off x="777240" y="3374136"/>
            <a:ext cx="82296" cy="82296"/>
          </a:xfrm>
          <a:prstGeom prst="ellipse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41832" y="3328416"/>
            <a:ext cx="4498848" cy="2743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222222"/>
                </a:solidFill>
              </a:rPr>
              <a:t>Trip purpose is inferred from patterns, not observed directly.</a:t>
            </a:r>
            <a:endParaRPr lang="en-US" sz="1040" dirty="0"/>
          </a:p>
        </p:txBody>
      </p:sp>
      <p:sp>
        <p:nvSpPr>
          <p:cNvPr id="17" name="Shape 15"/>
          <p:cNvSpPr/>
          <p:nvPr/>
        </p:nvSpPr>
        <p:spPr>
          <a:xfrm>
            <a:off x="777240" y="3767328"/>
            <a:ext cx="82296" cy="82296"/>
          </a:xfrm>
          <a:prstGeom prst="ellipse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1832" y="3721608"/>
            <a:ext cx="4498848" cy="2743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222222"/>
                </a:solidFill>
              </a:rPr>
              <a:t>Weather, events, and operational changes are not controlled.</a:t>
            </a:r>
            <a:endParaRPr lang="en-US" sz="1040" dirty="0"/>
          </a:p>
        </p:txBody>
      </p:sp>
      <p:sp>
        <p:nvSpPr>
          <p:cNvPr id="19" name="Shape 17"/>
          <p:cNvSpPr/>
          <p:nvPr/>
        </p:nvSpPr>
        <p:spPr>
          <a:xfrm>
            <a:off x="6263640" y="1417320"/>
            <a:ext cx="5440680" cy="4434840"/>
          </a:xfrm>
          <a:prstGeom prst="roundRect">
            <a:avLst>
              <a:gd name="adj" fmla="val 1649"/>
            </a:avLst>
          </a:prstGeom>
          <a:solidFill>
            <a:srgbClr val="F3F6F9"/>
          </a:solidFill>
          <a:ln w="9525">
            <a:solidFill>
              <a:srgbClr val="D9E1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37960" y="170078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154"/>
                </a:solidFill>
              </a:rPr>
              <a:t>Next steps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537960" y="2194560"/>
            <a:ext cx="82296" cy="82296"/>
          </a:xfrm>
          <a:prstGeom prst="ellipse">
            <a:avLst/>
          </a:prstGeom>
          <a:solidFill>
            <a:srgbClr val="2F6FAE"/>
          </a:solidFill>
          <a:ln w="12700">
            <a:solidFill>
              <a:srgbClr val="2F6F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02552" y="2148840"/>
            <a:ext cx="4498848" cy="2743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222222"/>
                </a:solidFill>
              </a:rPr>
              <a:t>Extend analysis to a full 12-month dataset for seasonality.</a:t>
            </a:r>
            <a:endParaRPr lang="en-US" sz="1040" dirty="0"/>
          </a:p>
        </p:txBody>
      </p:sp>
      <p:sp>
        <p:nvSpPr>
          <p:cNvPr id="23" name="Shape 21"/>
          <p:cNvSpPr/>
          <p:nvPr/>
        </p:nvSpPr>
        <p:spPr>
          <a:xfrm>
            <a:off x="6537960" y="2587752"/>
            <a:ext cx="82296" cy="82296"/>
          </a:xfrm>
          <a:prstGeom prst="ellipse">
            <a:avLst/>
          </a:prstGeom>
          <a:solidFill>
            <a:srgbClr val="2F6FAE"/>
          </a:solidFill>
          <a:ln w="12700">
            <a:solidFill>
              <a:srgbClr val="2F6F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02552" y="2542032"/>
            <a:ext cx="4498848" cy="2743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222222"/>
                </a:solidFill>
              </a:rPr>
              <a:t>Add weather and station-level factors to explain demand variation.</a:t>
            </a:r>
            <a:endParaRPr lang="en-US" sz="1040" dirty="0"/>
          </a:p>
        </p:txBody>
      </p:sp>
      <p:sp>
        <p:nvSpPr>
          <p:cNvPr id="25" name="Shape 23"/>
          <p:cNvSpPr/>
          <p:nvPr/>
        </p:nvSpPr>
        <p:spPr>
          <a:xfrm>
            <a:off x="6537960" y="2980944"/>
            <a:ext cx="82296" cy="82296"/>
          </a:xfrm>
          <a:prstGeom prst="ellipse">
            <a:avLst/>
          </a:prstGeom>
          <a:solidFill>
            <a:srgbClr val="2F6FAE"/>
          </a:solidFill>
          <a:ln w="12700">
            <a:solidFill>
              <a:srgbClr val="2F6F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02552" y="2935224"/>
            <a:ext cx="4498848" cy="2743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222222"/>
                </a:solidFill>
              </a:rPr>
              <a:t>Create segments for repeat casual riders, if privacy-safe IDs exist.</a:t>
            </a:r>
            <a:endParaRPr lang="en-US" sz="1040" dirty="0"/>
          </a:p>
        </p:txBody>
      </p:sp>
      <p:sp>
        <p:nvSpPr>
          <p:cNvPr id="27" name="Shape 25"/>
          <p:cNvSpPr/>
          <p:nvPr/>
        </p:nvSpPr>
        <p:spPr>
          <a:xfrm>
            <a:off x="6537960" y="3374136"/>
            <a:ext cx="82296" cy="82296"/>
          </a:xfrm>
          <a:prstGeom prst="ellipse">
            <a:avLst/>
          </a:prstGeom>
          <a:solidFill>
            <a:srgbClr val="2F6FAE"/>
          </a:solidFill>
          <a:ln w="12700">
            <a:solidFill>
              <a:srgbClr val="2F6F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02552" y="3328416"/>
            <a:ext cx="4498848" cy="2743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222222"/>
                </a:solidFill>
              </a:rPr>
              <a:t>Run controlled digital campaign tests against the identified segments.</a:t>
            </a:r>
            <a:endParaRPr lang="en-US" sz="1040" dirty="0"/>
          </a:p>
        </p:txBody>
      </p:sp>
      <p:sp>
        <p:nvSpPr>
          <p:cNvPr id="29" name="Shape 27"/>
          <p:cNvSpPr/>
          <p:nvPr/>
        </p:nvSpPr>
        <p:spPr>
          <a:xfrm>
            <a:off x="6537960" y="3767328"/>
            <a:ext cx="82296" cy="82296"/>
          </a:xfrm>
          <a:prstGeom prst="ellipse">
            <a:avLst/>
          </a:prstGeom>
          <a:solidFill>
            <a:srgbClr val="2F6FAE"/>
          </a:solidFill>
          <a:ln w="12700">
            <a:solidFill>
              <a:srgbClr val="2F6F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702552" y="3721608"/>
            <a:ext cx="4498848" cy="2743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222222"/>
                </a:solidFill>
              </a:rPr>
              <a:t>Connect campaign exposure to membership conversion outcomes.</a:t>
            </a:r>
            <a:endParaRPr lang="en-US" sz="1040" dirty="0"/>
          </a:p>
        </p:txBody>
      </p:sp>
      <p:sp>
        <p:nvSpPr>
          <p:cNvPr id="31" name="Shape 29"/>
          <p:cNvSpPr/>
          <p:nvPr/>
        </p:nvSpPr>
        <p:spPr>
          <a:xfrm>
            <a:off x="1188720" y="5989320"/>
            <a:ext cx="9829800" cy="438912"/>
          </a:xfrm>
          <a:prstGeom prst="roundRect">
            <a:avLst>
              <a:gd name="adj" fmla="val 16667"/>
            </a:avLst>
          </a:prstGeom>
          <a:solidFill>
            <a:srgbClr val="0B3154"/>
          </a:solidFill>
          <a:ln w="9525">
            <a:solidFill>
              <a:srgbClr val="0B315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417320" y="6126480"/>
            <a:ext cx="9372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30" dirty="0">
                <a:solidFill>
                  <a:srgbClr val="FFFFFF"/>
                </a:solidFill>
              </a:rPr>
              <a:t>Final conclusion: Members use the service more frequently and routinely; casual riders use it less often but take longer and more weekend-oriented trips.</a:t>
            </a:r>
            <a:endParaRPr lang="en-US" sz="930" dirty="0"/>
          </a:p>
        </p:txBody>
      </p:sp>
      <p:sp>
        <p:nvSpPr>
          <p:cNvPr id="33" name="Shape 3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0040" y="6656832"/>
            <a:ext cx="86868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B7280"/>
                </a:solidFill>
              </a:rPr>
              <a:t>Cyclistic Bike-Share Analysis • Q1 2019 vs Q1 2020 • Based on final CSV provided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9875520" y="6656832"/>
            <a:ext cx="19202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B7280"/>
                </a:solidFill>
              </a:rPr>
              <a:t>Prepared for executive review</a:t>
            </a:r>
            <a:endParaRPr lang="en-US" sz="6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0B3154"/>
          </a:solidFill>
          <a:ln w="12700">
            <a:solidFill>
              <a:srgbClr val="0B315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09728"/>
            <a:ext cx="8869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Appendix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329184" y="365760"/>
            <a:ext cx="9418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CE8F3"/>
                </a:solidFill>
              </a:rPr>
              <a:t>Source metrics computed directly from the supplied CSV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320040" y="71323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315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Metric reconciliation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29184" y="1133856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These are the key values used in the deck and dashboard.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051560" y="1463040"/>
            <a:ext cx="10058400" cy="411480"/>
          </a:xfrm>
          <a:prstGeom prst="rect">
            <a:avLst/>
          </a:prstGeom>
          <a:solidFill>
            <a:srgbClr val="0B3154"/>
          </a:solidFill>
          <a:ln w="6350">
            <a:solidFill>
              <a:srgbClr val="D9E1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16152" y="1591056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Metric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629400" y="1591056"/>
            <a:ext cx="4251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Value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051560" y="1874520"/>
            <a:ext cx="100584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9E1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16152" y="2002536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222222"/>
                </a:solidFill>
              </a:rPr>
              <a:t>Total rides</a:t>
            </a:r>
            <a:endParaRPr lang="en-US" sz="840" dirty="0"/>
          </a:p>
        </p:txBody>
      </p:sp>
      <p:sp>
        <p:nvSpPr>
          <p:cNvPr id="12" name="Text 10"/>
          <p:cNvSpPr/>
          <p:nvPr/>
        </p:nvSpPr>
        <p:spPr>
          <a:xfrm>
            <a:off x="6629400" y="2002536"/>
            <a:ext cx="4251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222222"/>
                </a:solidFill>
              </a:rPr>
              <a:t>791,955</a:t>
            </a:r>
            <a:endParaRPr lang="en-US" sz="840" dirty="0"/>
          </a:p>
        </p:txBody>
      </p:sp>
      <p:sp>
        <p:nvSpPr>
          <p:cNvPr id="13" name="Shape 11"/>
          <p:cNvSpPr/>
          <p:nvPr/>
        </p:nvSpPr>
        <p:spPr>
          <a:xfrm>
            <a:off x="1051560" y="2286000"/>
            <a:ext cx="10058400" cy="411480"/>
          </a:xfrm>
          <a:prstGeom prst="rect">
            <a:avLst/>
          </a:prstGeom>
          <a:solidFill>
            <a:srgbClr val="F3F6F9"/>
          </a:solidFill>
          <a:ln w="6350">
            <a:solidFill>
              <a:srgbClr val="D9E1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16152" y="2414016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222222"/>
                </a:solidFill>
              </a:rPr>
              <a:t>Member rides</a:t>
            </a:r>
            <a:endParaRPr lang="en-US" sz="840" dirty="0"/>
          </a:p>
        </p:txBody>
      </p:sp>
      <p:sp>
        <p:nvSpPr>
          <p:cNvPr id="15" name="Text 13"/>
          <p:cNvSpPr/>
          <p:nvPr/>
        </p:nvSpPr>
        <p:spPr>
          <a:xfrm>
            <a:off x="6629400" y="2414016"/>
            <a:ext cx="4251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222222"/>
                </a:solidFill>
              </a:rPr>
              <a:t>720,313 (91.0%)</a:t>
            </a:r>
            <a:endParaRPr lang="en-US" sz="840" dirty="0"/>
          </a:p>
        </p:txBody>
      </p:sp>
      <p:sp>
        <p:nvSpPr>
          <p:cNvPr id="16" name="Shape 14"/>
          <p:cNvSpPr/>
          <p:nvPr/>
        </p:nvSpPr>
        <p:spPr>
          <a:xfrm>
            <a:off x="1051560" y="2697480"/>
            <a:ext cx="100584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9E1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16152" y="2825496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222222"/>
                </a:solidFill>
              </a:rPr>
              <a:t>Casual rides</a:t>
            </a:r>
            <a:endParaRPr lang="en-US" sz="840" dirty="0"/>
          </a:p>
        </p:txBody>
      </p:sp>
      <p:sp>
        <p:nvSpPr>
          <p:cNvPr id="18" name="Text 16"/>
          <p:cNvSpPr/>
          <p:nvPr/>
        </p:nvSpPr>
        <p:spPr>
          <a:xfrm>
            <a:off x="6629400" y="2825496"/>
            <a:ext cx="4251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222222"/>
                </a:solidFill>
              </a:rPr>
              <a:t>71,642 (9.0%)</a:t>
            </a:r>
            <a:endParaRPr lang="en-US" sz="840" dirty="0"/>
          </a:p>
        </p:txBody>
      </p:sp>
      <p:sp>
        <p:nvSpPr>
          <p:cNvPr id="19" name="Shape 17"/>
          <p:cNvSpPr/>
          <p:nvPr/>
        </p:nvSpPr>
        <p:spPr>
          <a:xfrm>
            <a:off x="1051560" y="3108960"/>
            <a:ext cx="10058400" cy="411480"/>
          </a:xfrm>
          <a:prstGeom prst="rect">
            <a:avLst/>
          </a:prstGeom>
          <a:solidFill>
            <a:srgbClr val="F3F6F9"/>
          </a:solidFill>
          <a:ln w="6350">
            <a:solidFill>
              <a:srgbClr val="D9E1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16152" y="3236976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222222"/>
                </a:solidFill>
              </a:rPr>
              <a:t>Overall average ride length</a:t>
            </a:r>
            <a:endParaRPr lang="en-US" sz="840" dirty="0"/>
          </a:p>
        </p:txBody>
      </p:sp>
      <p:sp>
        <p:nvSpPr>
          <p:cNvPr id="21" name="Text 19"/>
          <p:cNvSpPr/>
          <p:nvPr/>
        </p:nvSpPr>
        <p:spPr>
          <a:xfrm>
            <a:off x="6629400" y="3236976"/>
            <a:ext cx="4251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222222"/>
                </a:solidFill>
              </a:rPr>
              <a:t>18.0 minutes</a:t>
            </a:r>
            <a:endParaRPr lang="en-US" sz="840" dirty="0"/>
          </a:p>
        </p:txBody>
      </p:sp>
      <p:sp>
        <p:nvSpPr>
          <p:cNvPr id="22" name="Shape 20"/>
          <p:cNvSpPr/>
          <p:nvPr/>
        </p:nvSpPr>
        <p:spPr>
          <a:xfrm>
            <a:off x="1051560" y="3520440"/>
            <a:ext cx="100584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9E1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216152" y="3648456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222222"/>
                </a:solidFill>
              </a:rPr>
              <a:t>Overall median ride length</a:t>
            </a:r>
            <a:endParaRPr lang="en-US" sz="840" dirty="0"/>
          </a:p>
        </p:txBody>
      </p:sp>
      <p:sp>
        <p:nvSpPr>
          <p:cNvPr id="24" name="Text 22"/>
          <p:cNvSpPr/>
          <p:nvPr/>
        </p:nvSpPr>
        <p:spPr>
          <a:xfrm>
            <a:off x="6629400" y="3648456"/>
            <a:ext cx="4251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222222"/>
                </a:solidFill>
              </a:rPr>
              <a:t>9.0 minutes</a:t>
            </a:r>
            <a:endParaRPr lang="en-US" sz="840" dirty="0"/>
          </a:p>
        </p:txBody>
      </p:sp>
      <p:sp>
        <p:nvSpPr>
          <p:cNvPr id="25" name="Shape 23"/>
          <p:cNvSpPr/>
          <p:nvPr/>
        </p:nvSpPr>
        <p:spPr>
          <a:xfrm>
            <a:off x="1051560" y="3931920"/>
            <a:ext cx="10058400" cy="411480"/>
          </a:xfrm>
          <a:prstGeom prst="rect">
            <a:avLst/>
          </a:prstGeom>
          <a:solidFill>
            <a:srgbClr val="F3F6F9"/>
          </a:solidFill>
          <a:ln w="6350">
            <a:solidFill>
              <a:srgbClr val="D9E1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216152" y="4059936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222222"/>
                </a:solidFill>
              </a:rPr>
              <a:t>2019: casual / member rides</a:t>
            </a:r>
            <a:endParaRPr lang="en-US" sz="840" dirty="0"/>
          </a:p>
        </p:txBody>
      </p:sp>
      <p:sp>
        <p:nvSpPr>
          <p:cNvPr id="27" name="Text 25"/>
          <p:cNvSpPr/>
          <p:nvPr/>
        </p:nvSpPr>
        <p:spPr>
          <a:xfrm>
            <a:off x="6629400" y="4059936"/>
            <a:ext cx="4251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222222"/>
                </a:solidFill>
              </a:rPr>
              <a:t>23,163 / 341,906</a:t>
            </a:r>
            <a:endParaRPr lang="en-US" sz="840" dirty="0"/>
          </a:p>
        </p:txBody>
      </p:sp>
      <p:sp>
        <p:nvSpPr>
          <p:cNvPr id="28" name="Shape 26"/>
          <p:cNvSpPr/>
          <p:nvPr/>
        </p:nvSpPr>
        <p:spPr>
          <a:xfrm>
            <a:off x="1051560" y="4343400"/>
            <a:ext cx="100584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9E1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216152" y="4471416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222222"/>
                </a:solidFill>
              </a:rPr>
              <a:t>2020: casual / member rides</a:t>
            </a:r>
            <a:endParaRPr lang="en-US" sz="840" dirty="0"/>
          </a:p>
        </p:txBody>
      </p:sp>
      <p:sp>
        <p:nvSpPr>
          <p:cNvPr id="30" name="Text 28"/>
          <p:cNvSpPr/>
          <p:nvPr/>
        </p:nvSpPr>
        <p:spPr>
          <a:xfrm>
            <a:off x="6629400" y="4471416"/>
            <a:ext cx="4251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222222"/>
                </a:solidFill>
              </a:rPr>
              <a:t>48,479 / 378,407</a:t>
            </a:r>
            <a:endParaRPr lang="en-US" sz="840" dirty="0"/>
          </a:p>
        </p:txBody>
      </p:sp>
      <p:sp>
        <p:nvSpPr>
          <p:cNvPr id="31" name="Shape 29"/>
          <p:cNvSpPr/>
          <p:nvPr/>
        </p:nvSpPr>
        <p:spPr>
          <a:xfrm>
            <a:off x="1051560" y="4754880"/>
            <a:ext cx="10058400" cy="411480"/>
          </a:xfrm>
          <a:prstGeom prst="rect">
            <a:avLst/>
          </a:prstGeom>
          <a:solidFill>
            <a:srgbClr val="F3F6F9"/>
          </a:solidFill>
          <a:ln w="6350">
            <a:solidFill>
              <a:srgbClr val="D9E1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216152" y="4882896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222222"/>
                </a:solidFill>
              </a:rPr>
              <a:t>2019: casual / member average duration</a:t>
            </a:r>
            <a:endParaRPr lang="en-US" sz="840" dirty="0"/>
          </a:p>
        </p:txBody>
      </p:sp>
      <p:sp>
        <p:nvSpPr>
          <p:cNvPr id="33" name="Text 31"/>
          <p:cNvSpPr/>
          <p:nvPr/>
        </p:nvSpPr>
        <p:spPr>
          <a:xfrm>
            <a:off x="6629400" y="4882896"/>
            <a:ext cx="4251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222222"/>
                </a:solidFill>
              </a:rPr>
              <a:t>37.07 / 11.49 minutes</a:t>
            </a:r>
            <a:endParaRPr lang="en-US" sz="840" dirty="0"/>
          </a:p>
        </p:txBody>
      </p:sp>
      <p:sp>
        <p:nvSpPr>
          <p:cNvPr id="34" name="Shape 32"/>
          <p:cNvSpPr/>
          <p:nvPr/>
        </p:nvSpPr>
        <p:spPr>
          <a:xfrm>
            <a:off x="1051560" y="5166360"/>
            <a:ext cx="100584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9E1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216152" y="5294376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222222"/>
                </a:solidFill>
              </a:rPr>
              <a:t>2020: casual / member average duration</a:t>
            </a:r>
            <a:endParaRPr lang="en-US" sz="840" dirty="0"/>
          </a:p>
        </p:txBody>
      </p:sp>
      <p:sp>
        <p:nvSpPr>
          <p:cNvPr id="36" name="Text 34"/>
          <p:cNvSpPr/>
          <p:nvPr/>
        </p:nvSpPr>
        <p:spPr>
          <a:xfrm>
            <a:off x="6629400" y="5294376"/>
            <a:ext cx="4251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222222"/>
                </a:solidFill>
              </a:rPr>
              <a:t>95.78 / 12.68 minutes</a:t>
            </a:r>
            <a:endParaRPr lang="en-US" sz="840" dirty="0"/>
          </a:p>
        </p:txBody>
      </p:sp>
      <p:sp>
        <p:nvSpPr>
          <p:cNvPr id="37" name="Text 35"/>
          <p:cNvSpPr/>
          <p:nvPr/>
        </p:nvSpPr>
        <p:spPr>
          <a:xfrm>
            <a:off x="1051560" y="5989320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</a:rPr>
              <a:t>Data source for metrics: /mnt/data/Trip_Q1_2019_vs_Trip_Q1_2020(1).csv. All calculations use the values in this file as supplied.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0040" y="6656832"/>
            <a:ext cx="86868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B7280"/>
                </a:solidFill>
              </a:rPr>
              <a:t>Cyclistic Bike-Share Analysis • Q1 2019 vs Q1 2020 • Based on final CSV provided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9875520" y="6656832"/>
            <a:ext cx="19202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B7280"/>
                </a:solidFill>
              </a:rPr>
              <a:t>Prepared for executive review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Cyclistic Rider Behavior: Q1 2019 vs Q1 2020</dc:title>
  <dc:subject>Cyclistic Bike-Share Case Study</dc:subject>
  <dc:creator>OpenAI</dc:creator>
  <cp:lastModifiedBy>OpenAI</cp:lastModifiedBy>
  <cp:revision>1</cp:revision>
  <dcterms:created xsi:type="dcterms:W3CDTF">2026-08-01T18:18:52Z</dcterms:created>
  <dcterms:modified xsi:type="dcterms:W3CDTF">2026-08-01T18:18:52Z</dcterms:modified>
</cp:coreProperties>
</file>