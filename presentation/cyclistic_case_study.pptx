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6400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CYCLISTIC BIKE-SHARE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Rider Behavior: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 2019 vs Q1 2020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30936" y="2395728"/>
            <a:ext cx="5943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8F3"/>
                </a:solidFill>
              </a:rPr>
              <a:t>Understanding how members and casual riders use bike-share differently to support membership conversion strategy.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391363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" y="4032504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TOTAL RIDES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758952" y="4270248"/>
            <a:ext cx="1911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792K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4626864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791,955 records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3035808" y="391363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0" y="4032504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MEMBER RIDES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200400" y="4270248"/>
            <a:ext cx="1911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720K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18688" y="4626864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91.0% of rides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477256" y="391363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41848" y="4032504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CASUAL RIDES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5641848" y="4270248"/>
            <a:ext cx="1911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F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72K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660136" y="4626864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9.0% of rides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918704" y="391363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83296" y="4032504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AVG RIDE LENGTH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8083296" y="4270248"/>
            <a:ext cx="1911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18.0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101584" y="4626864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minutes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7635240" y="777240"/>
            <a:ext cx="40690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RIDER BEHAVIOR Q1 2019 VS Q1 2020(2)">    </p:cNvPr>
          <p:cNvPicPr>
            <a:picLocks noChangeAspect="1"/>
          </p:cNvPicPr>
          <p:nvPr/>
        </p:nvPicPr>
        <p:blipFill>
          <a:blip r:embed="rId1"/>
          <a:srcRect l="0" r="0" t="1975" b="1975"/>
          <a:stretch/>
        </p:blipFill>
        <p:spPr>
          <a:xfrm>
            <a:off x="7754112" y="896112"/>
            <a:ext cx="3822192" cy="235915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21792" y="59893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E8F3"/>
                </a:solidFill>
              </a:rPr>
              <a:t>Prepared for Cyclistic executive review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" y="62179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EDF"/>
                </a:solidFill>
              </a:rPr>
              <a:t>Analysis dataset: Trip_Q1_2019_vs_Trip_Q1_2020.csv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Divvy public trip data, Q1 2019 and Q1 2020, combined into one dataset of 791,955 rides.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Members drive volume; casual riders show longer, more leisure-oriented behavior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Business question: How do annual members and casual riders use bikes differently?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1627632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TOTAL RIDES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576072" y="1865376"/>
            <a:ext cx="2276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791,955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94360" y="2267712"/>
            <a:ext cx="2240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Final analysis file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10712" y="1627632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MEMBER RIDES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410712" y="1865376"/>
            <a:ext cx="2276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720K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429000" y="2267712"/>
            <a:ext cx="2240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91.0% of rides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45352" y="1627632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CASUAL RIDES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6245352" y="1865376"/>
            <a:ext cx="2276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F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72K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263640" y="2267712"/>
            <a:ext cx="2240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9.0% of rides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91540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79992" y="1627632"/>
            <a:ext cx="2276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AVERAGE LENGTH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9079992" y="1865376"/>
            <a:ext cx="2276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18.0 min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098280" y="2267712"/>
            <a:ext cx="2240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Median: 9.0 min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8368" y="3054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154"/>
                </a:solidFill>
              </a:rPr>
              <a:t>Executive answer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" y="3611880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50392" y="3566160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Members dominate ride volume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: 91.0% of all rides are from members.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032504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0392" y="3986784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Casual riders take longer rides: their median ride is about 2.5 times a member's (21–23 vs 8–9 minutes).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/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453128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50392" y="4407408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Casual usage is weekend-skewed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: Sunday and Saturday carry the highest casual ride share.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4873752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0392" y="4828032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Members show routine hourly peaks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: strongest activity occurs around 08:00 and 17:00.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278892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pic>
        <p:nvPicPr>
          <p:cNvPr id="34" name="Image 0" descr="rider_mix_don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3133895"/>
            <a:ext cx="2240280" cy="255617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8869680" y="278892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pic>
        <p:nvPicPr>
          <p:cNvPr id="36" name="Image 1" descr="ride_count_by_year_ty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3802284"/>
            <a:ext cx="2240280" cy="1219393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Clarify the problem and stakeholders before analysis.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task and decision context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Cyclistic wants to convert casual riders into annual members using data-backed marketing strategy.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9525">
            <a:solidFill>
              <a:srgbClr val="BBD6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783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AE"/>
                </a:solidFill>
              </a:rPr>
              <a:t>Primary question assigned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3891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</a:rPr>
              <a:t>How do annual members and casual riders use Cyclistic bikes differently?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29443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This deck focuses on behavior differences that can inform membership conversion tactics.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852160" y="1508760"/>
            <a:ext cx="5806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53912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154"/>
                </a:solidFill>
              </a:rPr>
              <a:t>Stakeholders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2258568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36792" y="2212848"/>
            <a:ext cx="49560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2222"/>
                </a:solidFill>
              </a:rPr>
              <a:t>Lily Moreno</a:t>
            </a:r>
            <a:pPr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: Director of Marketing; owns campaign strategy.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172200" y="2624328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36792" y="2578608"/>
            <a:ext cx="49560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2222"/>
                </a:solidFill>
              </a:rPr>
              <a:t>Marketing analytics team</a:t>
            </a:r>
            <a:pPr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: prepares analysis and reporting.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72200" y="2990088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36792" y="2944368"/>
            <a:ext cx="49560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2222"/>
                </a:solidFill>
              </a:rPr>
              <a:t>Executive team</a:t>
            </a:r>
            <a:pPr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: approves recommendations and investment.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154"/>
                </a:solidFill>
              </a:rPr>
              <a:t>Required case study deliverables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936" y="4288536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936" y="434797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33272" y="43342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2222"/>
                </a:solidFill>
              </a:rPr>
              <a:t>Business task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297680" y="4160520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25696" y="4288536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25696" y="434797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28032" y="43342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2222"/>
                </a:solidFill>
              </a:rPr>
              <a:t>Data sources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092440" y="4160520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220456" y="4288536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20456" y="434797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22792" y="43342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2222"/>
                </a:solidFill>
              </a:rPr>
              <a:t>Cleaning documentation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2920" y="4946904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30936" y="5074920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0936" y="51343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33272" y="51206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2222"/>
                </a:solidFill>
              </a:rPr>
              <a:t>Analysis summary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297680" y="4946904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425696" y="5074920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425696" y="51343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28032" y="51206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2222"/>
                </a:solidFill>
              </a:rPr>
              <a:t>Visual findings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8092440" y="4946904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220456" y="5074920"/>
            <a:ext cx="310896" cy="3108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220456" y="51343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22792" y="51206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2222"/>
                </a:solidFill>
              </a:rPr>
              <a:t>Top 3 recommendations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21208" y="605332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Source: Case study brief assigns the first business question and requires six deliverables.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Define the data, scope, and toolchain used in the analysis.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source, scope, and analysis file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Q1 2019 and Q1 2020 trip files were combined into one dataset and visualized in Tableau and Power BI.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" y="1627632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2019 RECORDS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67512" y="1865376"/>
            <a:ext cx="2231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365,069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2221992"/>
            <a:ext cx="2194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Divvy Trips Q1 2019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56432" y="1627632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2020 RECORDS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456432" y="1865376"/>
            <a:ext cx="2231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426,886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474720" y="2221992"/>
            <a:ext cx="2194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Divvy Trips Q1 2020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45352" y="1627632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COMBINED RECORDS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6245352" y="1865376"/>
            <a:ext cx="2231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791,955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263640" y="2221992"/>
            <a:ext cx="2194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Appended dataset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869680" y="15087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34272" y="1627632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RIDER TYPES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9034272" y="1865376"/>
            <a:ext cx="2231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052560" y="2221992"/>
            <a:ext cx="2194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member and casual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502920" y="2743200"/>
            <a:ext cx="5669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2999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154"/>
                </a:solidFill>
              </a:rPr>
              <a:t>Fields used for the story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7240" y="3502152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41832" y="3456432"/>
            <a:ext cx="4590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ride_id, started_at, ended_at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3858768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" y="3813048"/>
            <a:ext cx="4590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member_casual, ride_length_minute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4215384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41832" y="4169664"/>
            <a:ext cx="4590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day_of_week, day_name, start_hour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4572000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" y="4526280"/>
            <a:ext cx="45902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year and station names for context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0749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Privacy note: no personally identifiable rider data is used.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46520" y="274320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720840" y="2999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154"/>
                </a:solidFill>
              </a:rPr>
              <a:t>Scope boundaries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720840" y="3538728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885432" y="3493008"/>
            <a:ext cx="43616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22222"/>
                </a:solidFill>
              </a:rPr>
              <a:t>This is a Q1 2019 vs Q1 2020 comparison, not a full-year seasonality analysis.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6720840" y="3968496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85432" y="3922776"/>
            <a:ext cx="43616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22222"/>
                </a:solidFill>
              </a:rPr>
              <a:t>Ride length was calculated in Google Sheets before the files were combined in Python.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6720840" y="4398264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885432" y="4352544"/>
            <a:ext cx="436168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22222"/>
                </a:solidFill>
              </a:rPr>
              <a:t>No filter for negative durations or Divvy test rides is applied, so averages include outliers; medians are used for comparisons.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&amp; Analyze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Prepare the data so member and casual behavior can be compared reliably.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workflow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Python/Colab was used to prepare the combined dataset; Tableau was used to create the dashboard.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4400" y="2130552"/>
            <a:ext cx="9235440" cy="0"/>
          </a:xfrm>
          <a:prstGeom prst="line">
            <a:avLst/>
          </a:prstGeom>
          <a:noFill/>
          <a:ln w="2540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65960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0253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2648" y="26791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3154"/>
                </a:solidFill>
              </a:rPr>
              <a:t>Import CSV files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612648" y="2990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Load 2019 Q1 and 2020 Q1 trip data.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816352" y="1965960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16352" y="20253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70632" y="249631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26080" y="26791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3154"/>
                </a:solidFill>
              </a:rPr>
              <a:t>Standardize columns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2926080" y="2990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Align names and rider categories.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129784" y="1965960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29784" y="20253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84064" y="249631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39512" y="26791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3154"/>
                </a:solidFill>
              </a:rPr>
              <a:t>Create time fields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5239512" y="2990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ride_length, day_name, start_hour.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443216" y="1965960"/>
            <a:ext cx="310896" cy="310896"/>
          </a:xfrm>
          <a:prstGeom prst="ellipse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43216" y="20253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97496" y="249631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52944" y="26791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3154"/>
                </a:solidFill>
              </a:rPr>
              <a:t>Append datasets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7552944" y="2990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Combine rows into one dataset.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9756648" y="1965960"/>
            <a:ext cx="310896" cy="3108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56648" y="20253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710928" y="2496312"/>
            <a:ext cx="1965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866376" y="26791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3154"/>
                </a:solidFill>
              </a:rPr>
              <a:t>Visualize &amp; interpret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9866376" y="2990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Build Tableau dashboard and PPT.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594360" y="45720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EAF7F5"/>
          </a:solidFill>
          <a:ln w="9525">
            <a:solidFill>
              <a:srgbClr val="B7E0D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68680" y="4800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154"/>
                </a:solidFill>
              </a:rPr>
              <a:t>Documentation statement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510235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The final dataset contains 791,955 rows and 15 fields. It supports analysis of ride volume, ride duration, weekday distribution, and hourly usage patterns by rider type and year.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Ride volume by rider type and year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Members generate the overwhelming majority of rides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In the final dataset, members account for 720K rides, while casual riders account for 72K rides.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629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pic>
        <p:nvPicPr>
          <p:cNvPr id="8" name="Image 0" descr="ride_count_by_year_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9201"/>
            <a:ext cx="6355080" cy="34590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52360" y="148132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2668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154"/>
                </a:solidFill>
              </a:rPr>
              <a:t>What the chart shows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26680" y="2313432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891272" y="2267712"/>
            <a:ext cx="32644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22222"/>
                </a:solidFill>
              </a:rPr>
              <a:t>Member rides: 720,313 (91.0%).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726680" y="2706624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891272" y="2660904"/>
            <a:ext cx="32644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22222"/>
                </a:solidFill>
              </a:rPr>
              <a:t>Casual rides: 71,642 (9.0%).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7726680" y="3099816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891272" y="3054096"/>
            <a:ext cx="32644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22222"/>
                </a:solidFill>
              </a:rPr>
              <a:t>Members make roughly 10× more trips than casual riders.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7726680" y="3493008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891272" y="3447288"/>
            <a:ext cx="32644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22222"/>
                </a:solidFill>
              </a:rPr>
              <a:t>This confirms that member behavior is more frequent and routine by volume.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7726680" y="47823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154"/>
                </a:solidFill>
              </a:rPr>
              <a:t>Implication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26680" y="5074920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Growth does not require explaining the service from scratch: casual riders already use the system and can be targeted for conversion.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Average and median ride length by rider type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Casual riders take longer trips than members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Casual riders ride longer in both years. Medians are the safer comparison because a few very long casual trips pull the averages up.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pic>
        <p:nvPicPr>
          <p:cNvPr id="8" name="Image 0" descr="avg_duration_by_year_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31415"/>
            <a:ext cx="6126480" cy="333466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62763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34072" y="1746504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CASUAL AVG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7434072" y="1984248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F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76.8 min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452360" y="2432304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Median 22.0 min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9464040" y="162763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28632" y="1746504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MEMBER AVG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9628632" y="1984248"/>
            <a:ext cx="1636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12.1 min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9646920" y="2432304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Median 8.5 min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269480" y="2971800"/>
            <a:ext cx="4160520" cy="2834640"/>
          </a:xfrm>
          <a:prstGeom prst="roundRect">
            <a:avLst>
              <a:gd name="adj" fmla="val 2581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525512" y="321868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154"/>
                </a:solidFill>
              </a:rPr>
              <a:t>Values by year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525512" y="3721608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690104" y="3675888"/>
            <a:ext cx="33284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2019 casual avg: 37.07 min; member avg: 11.49 min.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7525512" y="4169664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690104" y="4123944"/>
            <a:ext cx="33284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2020 casual avg: 95.78 min; member avg: 12.68 min.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7525512" y="4617720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90104" y="4572000"/>
            <a:ext cx="33284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This supports messaging that targets casual riders with long-trip value propositions.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7516368" y="53766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Note: the 2020 casual average is inflated by outliers (casual rides starting at 4 AM average over 20 hours). Medians: casual 23.4 / 21.2 min, member 8.4 / 8.6 min (2019 / 2020).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Weekday distribution by rider type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Casual riding is more concentrated on weekends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Casual riders over-index on Sunday and Saturday; members concentrate more on weekdays.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400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pic>
        <p:nvPicPr>
          <p:cNvPr id="8" name="Image 0" descr="weekday_share_by_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31415"/>
            <a:ext cx="6126480" cy="333466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48132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4380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154"/>
                </a:solidFill>
              </a:rPr>
              <a:t>Weekend skew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22402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708392" y="235915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CASUAL SUNDAY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7708392" y="2596896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F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26.0%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726680" y="3044952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highest share</a:t>
            </a:r>
            <a:endParaRPr lang="en-US" sz="720" dirty="0"/>
          </a:p>
        </p:txBody>
      </p:sp>
      <p:sp>
        <p:nvSpPr>
          <p:cNvPr id="15" name="Shape 12"/>
          <p:cNvSpPr/>
          <p:nvPr/>
        </p:nvSpPr>
        <p:spPr>
          <a:xfrm>
            <a:off x="9436608" y="22402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0" y="235915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CASUAL SATURDAY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9601200" y="2596896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F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18.8%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9619488" y="3044952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second-highest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7543800" y="3493008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708392" y="361188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MEMBER TUESDAY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7708392" y="3849624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17.8%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7726680" y="4297680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weekday peak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9436608" y="3493008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601200" y="361188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MEMBER WEEKEND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9601200" y="3849624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16.6%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9619488" y="4297680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Sun + Sat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7543800" y="4983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154"/>
                </a:solidFill>
              </a:rPr>
              <a:t>Implication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54380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</a:rPr>
              <a:t>Weekend touchpoints are more relevant for casual conversion than broad, all-week messaging.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Hourly usage patterns by rider type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Members show stronger routine hourly usage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Member activity has clear morning and evening peaks; casual activity peaks later in the day.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720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pic>
        <p:nvPicPr>
          <p:cNvPr id="8" name="Image 0" descr="hourly_pattern_by_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43081"/>
            <a:ext cx="6446520" cy="35113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1481328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154"/>
                </a:solidFill>
              </a:rPr>
              <a:t>Peak start hour (both years combined)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72400" y="2331720"/>
            <a:ext cx="1554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936992" y="245059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MEMBER PEAK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7936992" y="2688336"/>
            <a:ext cx="1225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17:00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955280" y="2971800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95,865 rides</a:t>
            </a:r>
            <a:endParaRPr lang="en-US" sz="720" dirty="0"/>
          </a:p>
        </p:txBody>
      </p:sp>
      <p:sp>
        <p:nvSpPr>
          <p:cNvPr id="15" name="Shape 12"/>
          <p:cNvSpPr/>
          <p:nvPr/>
        </p:nvSpPr>
        <p:spPr>
          <a:xfrm>
            <a:off x="9555480" y="2331720"/>
            <a:ext cx="1554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20072" y="245059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CASUAL PEAK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9720072" y="2688336"/>
            <a:ext cx="1225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F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15:00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9738360" y="2971800"/>
            <a:ext cx="1188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7,999 rides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7818120" y="3657600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982712" y="3611880"/>
            <a:ext cx="30358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2222"/>
                </a:solidFill>
              </a:rPr>
              <a:t>Members display sharper 08:00 and 17:00 peaks.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7818120" y="4050792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982712" y="4005072"/>
            <a:ext cx="30358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2222"/>
                </a:solidFill>
              </a:rPr>
              <a:t>Casual rides build through midday and afternoon.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7818120" y="4443984"/>
            <a:ext cx="82296" cy="822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982712" y="4398264"/>
            <a:ext cx="303580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22222"/>
                </a:solidFill>
              </a:rPr>
              <a:t>Use “commute-related” as an inference, not a confirmed cause.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Tableau dashboard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view: rider behavior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dashboard combines KPIs, volume, duration, weekday share, and hourly usage in one executive view.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1539728" cy="4636008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pic>
        <p:nvPicPr>
          <p:cNvPr id="8" name="Image 0" descr="RIDER BEHAVIOR Q1 2019 VS Q1 2020(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984" y="1554480"/>
            <a:ext cx="6929840" cy="44531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272784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This screenshot is included as the supporting visualization deliverable. The presentation slides separate the dashboard into decisions and recommendations.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Translate the findings into marketing recommendations.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three recommendations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recommendations focus on converting casual riders who already show high engagement.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3474720" cy="4069080"/>
          </a:xfrm>
          <a:prstGeom prst="roundRect">
            <a:avLst>
              <a:gd name="adj" fmla="val 2105"/>
            </a:avLst>
          </a:prstGeom>
          <a:solidFill>
            <a:srgbClr val="EAF3FB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874520"/>
            <a:ext cx="310896" cy="3108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9339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154"/>
                </a:solidFill>
              </a:rPr>
              <a:t>Weekend conversion campaign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Target casual riders on Saturday and Sunday with membership trial offers and post-ride prompts.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292608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6B7280"/>
                </a:solidFill>
              </a:rPr>
              <a:t>Why: casual ride share is highest on Sunday and Saturday.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77240" y="51023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Measure: CTR, conversion rate, cost per conversion, repeat rides.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361688" y="1572768"/>
            <a:ext cx="3474720" cy="4069080"/>
          </a:xfrm>
          <a:prstGeom prst="roundRect">
            <a:avLst>
              <a:gd name="adj" fmla="val 2105"/>
            </a:avLst>
          </a:prstGeom>
          <a:solidFill>
            <a:srgbClr val="FFF2E5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90288" y="1874520"/>
            <a:ext cx="310896" cy="3108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9339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01768" y="18745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154"/>
                </a:solidFill>
              </a:rPr>
              <a:t>Long-trip value messaging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36008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Show savings or benefits of membership after longer casual rides and repeat long-duration sessions.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636008" y="3886200"/>
            <a:ext cx="292608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36008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6B7280"/>
                </a:solidFill>
              </a:rPr>
              <a:t>Why: casual rides are longer on average and median than member rides.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636008" y="51023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Measure: CTR, conversion rate, cost per conversion, repeat rides.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220456" y="1572768"/>
            <a:ext cx="3474720" cy="4069080"/>
          </a:xfrm>
          <a:prstGeom prst="roundRect">
            <a:avLst>
              <a:gd name="adj" fmla="val 2105"/>
            </a:avLst>
          </a:prstGeom>
          <a:solidFill>
            <a:srgbClr val="EAF7F5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449056" y="1874520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49056" y="193395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60536" y="18745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154"/>
                </a:solidFill>
              </a:rPr>
              <a:t>Segmented digital experiments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94776" y="2697480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22222"/>
                </a:solidFill>
              </a:rPr>
              <a:t>Run A/B tests by rider type, day, start hour, and high-casual stations; measure conversion rate.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494776" y="3886200"/>
            <a:ext cx="292608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494776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i="1" dirty="0">
                <a:solidFill>
                  <a:srgbClr val="6B7280"/>
                </a:solidFill>
              </a:rPr>
              <a:t>Why: usage patterns are different enough to justify targeted campaigns.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494776" y="51023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Measure: CTR, conversion rate, cost per conversion, repeat rides.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Limitations and next analysis steps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findings, but avoid over-claiming causality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data answers usage differences, not the exact reason casual riders would buy a membership.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154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41832" y="2148840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Scope is Q1 2019 vs Q1 2020, not a full-year view.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777240" y="2587752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1832" y="2542032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No rider-level identity: repeat behavior cannot be directly tracked.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2980944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1832" y="2935224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No pricing, revenue, or membership conversion data is included.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777240" y="3374136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1832" y="3328416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Trip purpose is inferred from patterns, not observed directly.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77240" y="3767328"/>
            <a:ext cx="82296" cy="8229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1832" y="3721608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Weather, events, and operational changes are not controlled.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3796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154"/>
                </a:solidFill>
              </a:rPr>
              <a:t>Next steps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37960" y="2194560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2552" y="2148840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Extend analysis to a full 12-month dataset for seasonality.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537960" y="2587752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2552" y="2542032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Add weather and station-level factors to explain demand variation.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537960" y="2980944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02552" y="2935224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Create segments for repeat casual riders, if privacy-safe IDs exist.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6537960" y="3374136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2552" y="3328416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Run controlled digital campaign tests against the identified segments.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537960" y="3767328"/>
            <a:ext cx="82296" cy="82296"/>
          </a:xfrm>
          <a:prstGeom prst="ellipse">
            <a:avLst/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02552" y="3721608"/>
            <a:ext cx="44988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22222"/>
                </a:solidFill>
              </a:rPr>
              <a:t>Connect campaign exposure to membership conversion outcomes.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1188720" y="5989320"/>
            <a:ext cx="9829800" cy="438912"/>
          </a:xfrm>
          <a:prstGeom prst="roundRect">
            <a:avLst>
              <a:gd name="adj" fmla="val 16667"/>
            </a:avLst>
          </a:prstGeom>
          <a:solidFill>
            <a:srgbClr val="0B3154"/>
          </a:solidFill>
          <a:ln w="9525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417320" y="6126480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</a:rPr>
              <a:t>Final conclusion: Members use the service more frequently and routinely; casual riders use it less often but take longer and more weekend-oriented trips.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B3154"/>
          </a:solidFill>
          <a:ln w="12700">
            <a:solidFill>
              <a:srgbClr val="0B31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097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9184" y="365760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E8F3"/>
                </a:solidFill>
              </a:rPr>
              <a:t>Metrics computed from the combined trip dataset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1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reconciliation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These are the key values used in the deck and dashboard.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51560" y="1463040"/>
            <a:ext cx="10058400" cy="411480"/>
          </a:xfrm>
          <a:prstGeom prst="rect">
            <a:avLst/>
          </a:prstGeom>
          <a:solidFill>
            <a:srgbClr val="0B3154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16152" y="159105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Metric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29400" y="159105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51560" y="1874520"/>
            <a:ext cx="10058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16152" y="20025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Total rides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6629400" y="200253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791,955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1051560" y="2286000"/>
            <a:ext cx="10058400" cy="411480"/>
          </a:xfrm>
          <a:prstGeom prst="rect">
            <a:avLst/>
          </a:prstGeom>
          <a:solidFill>
            <a:srgbClr val="F3F6F9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16152" y="24140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Member rides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629400" y="241401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720,313 (91.0%)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6152" y="282549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Casual rides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629400" y="282549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71,642 (9.0%)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1051560" y="3108960"/>
            <a:ext cx="10058400" cy="411480"/>
          </a:xfrm>
          <a:prstGeom prst="rect">
            <a:avLst/>
          </a:prstGeom>
          <a:solidFill>
            <a:srgbClr val="F3F6F9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16152" y="323697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Overall average ride length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629400" y="323697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18.0 minutes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1051560" y="3520440"/>
            <a:ext cx="10058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16152" y="364845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Overall median ride length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629400" y="364845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9.0 minutes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1051560" y="3931920"/>
            <a:ext cx="10058400" cy="411480"/>
          </a:xfrm>
          <a:prstGeom prst="rect">
            <a:avLst/>
          </a:prstGeom>
          <a:solidFill>
            <a:srgbClr val="F3F6F9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16152" y="40599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2019: casual / member rides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629400" y="405993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23,163 / 341,906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1051560" y="4343400"/>
            <a:ext cx="10058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16152" y="44714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2020: casual / member rides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629400" y="447141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48,479 / 378,407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1051560" y="4754880"/>
            <a:ext cx="10058400" cy="411480"/>
          </a:xfrm>
          <a:prstGeom prst="rect">
            <a:avLst/>
          </a:prstGeom>
          <a:solidFill>
            <a:srgbClr val="F3F6F9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216152" y="488289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2019: casual / member average duration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6629400" y="488289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37.07 / 11.49 minutes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1051560" y="5166360"/>
            <a:ext cx="10058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16152" y="529437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2020: casual / member average duration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6629400" y="529437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</a:rPr>
              <a:t>95.78 / 12.68 minutes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1051560" y="59893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Data source: Trip_Q1_2019_vs_Trip_Q1_2020.csv, built in notebooks/cyclistic_bike_share_analysis.ipynb. Aggregates are in data/summary/.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20040" y="6656832"/>
            <a:ext cx="8686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Cyclistic Bike-Share Analysis • Q1 2019 vs Q1 2020 • Divvy public trip data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9875520" y="665683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Prepared for executive review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Rider Behavior: Q1 2019 vs Q1 2020</dc:title>
  <dc:subject>Cyclistic Bike-Share Case Study</dc:subject>
  <dc:creator>OpenAI</dc:creator>
  <cp:lastModifiedBy>OpenAI</cp:lastModifiedBy>
  <cp:revision>1</cp:revision>
  <dcterms:created xsi:type="dcterms:W3CDTF">2026-08-01T18:18:52Z</dcterms:created>
  <dcterms:modified xsi:type="dcterms:W3CDTF">2026-08-01T18:18:52Z</dcterms:modified>
</cp:coreProperties>
</file>